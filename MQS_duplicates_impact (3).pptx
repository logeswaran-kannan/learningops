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4" r:id="rId7"/>
    <p:sldId id="261" r:id="rId8"/>
    <p:sldId id="262" r:id="rId9"/>
    <p:sldId id="263"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id="{E027DDF0-04F3-EC6B-DB98-A27FC4C58648}">
          <p14:sldIdLst>
            <p14:sldId id="256"/>
            <p14:sldId id="257"/>
          </p14:sldIdLst>
        </p14:section>
        <p14:section name="The problem" id="{86D63BF5-DA24-5D83-A957-8D4FF3A33A80}">
          <p14:sldIdLst>
            <p14:sldId id="258"/>
            <p14:sldId id="259"/>
          </p14:sldIdLst>
        </p14:section>
        <p14:section name="Impact" id="{5C8EE246-E5B5-F70D-B909-96107ADECBEF}">
          <p14:sldIdLst>
            <p14:sldId id="260"/>
            <p14:sldId id="264"/>
            <p14:sldId id="261"/>
            <p14:sldId id="262"/>
          </p14:sldIdLst>
        </p14:section>
        <p14:section name="Next steps" id="{CDDE51F6-8B80-68A1-FFB9-1B08559DFDD2}">
          <p14:sldIdLst>
            <p14:sldId id="263"/>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610"/>
  </p:normalViewPr>
  <p:slideViewPr>
    <p:cSldViewPr snapToGrid="0" snapToObjects="1">
      <p:cViewPr varScale="1">
        <p:scale>
          <a:sx n="116" d="100"/>
          <a:sy n="116" d="100"/>
        </p:scale>
        <p:origin x="41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8660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explain to a wider audience why duplicate MQS quote records exist in BICoE, what they affect downstream, and what we need to resolve it. Detail is in the technical review document.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some duplicates get all the way to Gold, and duplicates are breaking the DVLA retention pipeline, which is a compliance control. Reconciliation is fine.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for the audience: dedup is not a general duplicate filter. It only catches identical copies that arrive close together. From Bronze (DLT tables) the enrichment tables are loaded and the DLT views are built; Pricing ART reads the DLT views. Reconciliation is a separate pipeline on landing with its own dedup. The DVLA retention pipeline is a separate safety check that scans landing and Bronze, and landing still holds every copy.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 same message resent several times on the same day: stopped by dedup. S2 same message resent on a later day: reaches Gold (confirmed in sample). S3 same quote with conflicting quote-step values, an MQS defect seen again 8-30 Sep 2026: reaches Gold. S4 historical data loaded twice during the header fix, one-off: reaches Gold, including enrichment. S5 upstream resends an exact copy: stopped by dedup when copies arrive close together. DVLA: fails for S4 and S5 (copies with exactly the same timestamp); S1, S2 and S3 do not affect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scenario 2. Dedup removed a same-day copy, but the later resends passed straight through to Gold. The resends arrive at about 02:00 UTC, which points to a scheduled upstream process; MQS to confirm.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scenario 2. Dedup removed a same-day copy, but the later resends passed straight through to Gold. The resends arrive at about 02:00 UTC, which points to a scheduled upstream process; MQS to confirm.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268022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S5 breaks it even though dedup removes the copy before Bronze, because the pipeline reads landing, where the identical copy remains. Copies with different timestamps (S1, S2, S3) are handled. One exact duplicate blocks the whole batch, can fail the run several days in a row, and a quote whose every eligible run fails keeps its DVLA data with nothing reporting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Reconciliation is safe. Be clear about what is confirmed versus still being checked so nobody over- or under-reads the impact.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asks. The DVLA restoration is the priority because it is a compliance control. The detailed technical review document has per-scenario evidence for anyone who wants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asks. The DVLA restoration is the priority because it is a compliance control. The detailed technical review document has per-scenario evidence for anyone who wants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26634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28016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731520" y="3520440"/>
            <a:ext cx="10058400" cy="1097280"/>
          </a:xfrm>
          <a:prstGeom prst="rect">
            <a:avLst/>
          </a:prstGeom>
          <a:noFill/>
          <a:ln/>
        </p:spPr>
        <p:txBody>
          <a:bodyPr wrap="square" rtlCol="0"/>
          <a:lstStyle>
            <a:lvl1pPr marL="0" indent="0">
              <a:buNone/>
              <a:defRPr lang="en-US" sz="1800" dirty="0">
                <a:solidFill>
                  <a:srgbClr val="CBD2D9"/>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rtlCol="0"/>
          <a:lstStyle>
            <a:lvl1pPr marL="0" indent="0">
              <a:buNone/>
              <a:defRPr lang="en-US" sz="3000" b="1" dirty="0">
                <a:solidFill>
                  <a:schemeClr val="tx1"/>
                </a:solidFill>
                <a:latin typeface="Cambria" pitchFamily="34" charset="0"/>
                <a:ea typeface="Cambria" pitchFamily="34" charset="-122"/>
                <a:cs typeface="Cambria" pitchFamily="34" charset="-120"/>
              </a:defRPr>
            </a:lvl1pPr>
          </a:lstStyle>
          <a:p>
            <a:pPr marL="0" indent="0">
              <a:buNone/>
            </a:pPr>
            <a:endParaRPr lang="en-US" sz="3000" dirty="0"/>
          </a:p>
        </p:txBody>
      </p:sp>
      <p:sp>
        <p:nvSpPr>
          <p:cNvPr id="3" name="Text 0"/>
          <p:cNvSpPr/>
          <p:nvPr/>
        </p:nvSpPr>
        <p:spPr>
          <a:xfrm>
            <a:off x="548640" y="6400800"/>
            <a:ext cx="5486400" cy="274320"/>
          </a:xfrm>
          <a:prstGeom prst="rect">
            <a:avLst/>
          </a:prstGeom>
          <a:noFill/>
          <a:ln/>
        </p:spPr>
        <p:txBody>
          <a:bodyPr wrap="square" rtlCol="0" anchor="ctr"/>
          <a:lstStyle/>
          <a:p>
            <a:pPr marL="0" indent="0">
              <a:buNone/>
            </a:pPr>
            <a:r>
              <a:rPr lang="en-US" sz="1000" dirty="0">
                <a:solidFill>
                  <a:srgbClr val="7B8794"/>
                </a:solidFill>
              </a:rPr>
              <a:t>BICoE  |  MQS duplicate data impact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B879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B879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280160"/>
          </a:xfrm>
          <a:prstGeom prst="rect">
            <a:avLst/>
          </a:prstGeom>
          <a:noFill/>
          <a:ln/>
        </p:spPr>
        <p:txBody>
          <a:bodyPr wrap="square" rtlCol="0" anchor="b"/>
          <a:lstStyle/>
          <a:p>
            <a:pPr marL="0" indent="0" algn="l">
              <a:buNone/>
            </a:pPr>
            <a:r>
              <a:rPr lang="en-US" sz="4000" b="1" dirty="0">
                <a:solidFill>
                  <a:schemeClr val="bg1"/>
                </a:solidFill>
                <a:latin typeface="Cambria" pitchFamily="34" charset="0"/>
                <a:ea typeface="Cambria" pitchFamily="34" charset="-122"/>
                <a:cs typeface="Cambria" pitchFamily="34" charset="-120"/>
              </a:rPr>
              <a:t>MQS duplicate data: impact on BICoE</a:t>
            </a:r>
            <a:endParaRPr lang="en-US" sz="4000" dirty="0"/>
          </a:p>
        </p:txBody>
      </p:sp>
      <p:sp>
        <p:nvSpPr>
          <p:cNvPr id="3" name="Text 0"/>
          <p:cNvSpPr>
            <a:spLocks noGrp="1"/>
          </p:cNvSpPr>
          <p:nvPr>
            <p:ph type="body" idx="101" hasCustomPrompt="1"/>
          </p:nvPr>
        </p:nvSpPr>
        <p:spPr>
          <a:xfrm>
            <a:off x="731520" y="3520440"/>
            <a:ext cx="10058400" cy="1097280"/>
          </a:xfrm>
          <a:prstGeom prst="rect">
            <a:avLst/>
          </a:prstGeom>
          <a:noFill/>
          <a:ln/>
        </p:spPr>
        <p:txBody>
          <a:bodyPr wrap="square" rtlCol="0" anchor="t"/>
          <a:lstStyle/>
          <a:p>
            <a:pPr marL="0" indent="0">
              <a:buNone/>
            </a:pPr>
            <a:r>
              <a:rPr lang="en-US" sz="1800" dirty="0">
                <a:solidFill>
                  <a:srgbClr val="CBD2D9"/>
                </a:solidFill>
              </a:rPr>
              <a:t>Five duplicate scenarios, what they do to Silver and Gold, and why the DVLA retention pipeline is failing</a:t>
            </a:r>
            <a:endParaRPr lang="en-US" sz="1800" dirty="0"/>
          </a:p>
          <a:p>
            <a:pPr marL="0" indent="0">
              <a:buNone/>
            </a:pPr>
            <a:endParaRPr lang="en-US" sz="1800" dirty="0"/>
          </a:p>
          <a:p>
            <a:pPr marL="0" indent="0">
              <a:buNone/>
            </a:pPr>
            <a:r>
              <a:rPr lang="en-US" sz="1800" dirty="0">
                <a:solidFill>
                  <a:srgbClr val="CBD2D9"/>
                </a:solidFill>
              </a:rPr>
              <a:t>8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Three things to know</a:t>
            </a:r>
            <a:endParaRPr lang="en-US" sz="3000" dirty="0"/>
          </a:p>
        </p:txBody>
      </p:sp>
      <p:sp>
        <p:nvSpPr>
          <p:cNvPr id="3" name="card-0"/>
          <p:cNvSpPr/>
          <p:nvPr/>
        </p:nvSpPr>
        <p:spPr>
          <a:xfrm>
            <a:off x="548640" y="1463040"/>
            <a:ext cx="3474720" cy="4480560"/>
          </a:xfrm>
          <a:prstGeom prst="roundRect">
            <a:avLst>
              <a:gd name="adj" fmla="val 3158"/>
            </a:avLst>
          </a:prstGeom>
          <a:solidFill>
            <a:srgbClr val="FDECEA"/>
          </a:solidFill>
          <a:ln w="12700">
            <a:solidFill>
              <a:srgbClr val="FDECEA"/>
            </a:solidFill>
            <a:prstDash val="solid"/>
          </a:ln>
        </p:spPr>
      </p:sp>
      <p:pic>
        <p:nvPicPr>
          <p:cNvPr id="4" name="card-icon-0" descr="preencoded.png"/>
          <p:cNvPicPr>
            <a:picLocks noChangeAspect="1"/>
          </p:cNvPicPr>
          <p:nvPr/>
        </p:nvPicPr>
        <p:blipFill>
          <a:blip r:embed="rId3"/>
          <a:stretch>
            <a:fillRect/>
          </a:stretch>
        </p:blipFill>
        <p:spPr>
          <a:xfrm>
            <a:off x="868680" y="1828800"/>
            <a:ext cx="548640" cy="548640"/>
          </a:xfrm>
          <a:prstGeom prst="rect">
            <a:avLst/>
          </a:prstGeom>
        </p:spPr>
      </p:pic>
      <p:sp>
        <p:nvSpPr>
          <p:cNvPr id="5" name="Text 2"/>
          <p:cNvSpPr txBox="1"/>
          <p:nvPr/>
        </p:nvSpPr>
        <p:spPr>
          <a:xfrm>
            <a:off x="868680" y="2514600"/>
            <a:ext cx="2834640" cy="1005840"/>
          </a:xfrm>
          <a:prstGeom prst="rect">
            <a:avLst/>
          </a:prstGeom>
          <a:noFill/>
          <a:ln/>
        </p:spPr>
        <p:txBody>
          <a:bodyPr wrap="square" lIns="0" tIns="0" rIns="0" bIns="0" rtlCol="0" anchor="ctr"/>
          <a:lstStyle/>
          <a:p>
            <a:pPr marL="0" indent="0">
              <a:buNone/>
            </a:pPr>
            <a:r>
              <a:rPr lang="en-US" sz="5400" b="1" dirty="0">
                <a:solidFill>
                  <a:schemeClr val="accent1"/>
                </a:solidFill>
                <a:latin typeface="Cambria" pitchFamily="34" charset="0"/>
                <a:ea typeface="Cambria" pitchFamily="34" charset="-122"/>
                <a:cs typeface="Cambria" pitchFamily="34" charset="-120"/>
              </a:rPr>
              <a:t>3×</a:t>
            </a:r>
            <a:endParaRPr lang="en-US" sz="5400" dirty="0"/>
          </a:p>
        </p:txBody>
      </p:sp>
      <p:sp>
        <p:nvSpPr>
          <p:cNvPr id="6" name="Text 3"/>
          <p:cNvSpPr txBox="1"/>
          <p:nvPr/>
        </p:nvSpPr>
        <p:spPr>
          <a:xfrm>
            <a:off x="868680" y="3611880"/>
            <a:ext cx="2834640" cy="822960"/>
          </a:xfrm>
          <a:prstGeom prst="rect">
            <a:avLst/>
          </a:prstGeom>
          <a:noFill/>
          <a:ln/>
        </p:spPr>
        <p:txBody>
          <a:bodyPr wrap="square" lIns="0" tIns="0" rIns="0" bIns="0" rtlCol="0" anchor="t"/>
          <a:lstStyle/>
          <a:p>
            <a:pPr marL="0" indent="0">
              <a:buNone/>
            </a:pPr>
            <a:r>
              <a:rPr lang="en-US" sz="2000" b="1" dirty="0">
                <a:solidFill>
                  <a:schemeClr val="tx1"/>
                </a:solidFill>
              </a:rPr>
              <a:t>Duplicates reach Silver and Gold</a:t>
            </a:r>
            <a:endParaRPr lang="en-US" sz="2000" dirty="0"/>
          </a:p>
        </p:txBody>
      </p:sp>
      <p:sp>
        <p:nvSpPr>
          <p:cNvPr id="7" name="Text 4"/>
          <p:cNvSpPr txBox="1"/>
          <p:nvPr/>
        </p:nvSpPr>
        <p:spPr>
          <a:xfrm>
            <a:off x="868680" y="4434840"/>
            <a:ext cx="2834640" cy="1280160"/>
          </a:xfrm>
          <a:prstGeom prst="rect">
            <a:avLst/>
          </a:prstGeom>
          <a:noFill/>
          <a:ln/>
        </p:spPr>
        <p:txBody>
          <a:bodyPr wrap="square" lIns="0" tIns="0" rIns="0" bIns="0" rtlCol="0" anchor="t"/>
          <a:lstStyle/>
          <a:p>
            <a:pPr marL="0" indent="0">
              <a:buNone/>
            </a:pPr>
            <a:r>
              <a:rPr lang="en-US" sz="1500" dirty="0">
                <a:solidFill>
                  <a:schemeClr val="tx1"/>
                </a:solidFill>
              </a:rPr>
              <a:t>Three of five scenarios reach Gold. One sample quote, resent on two later days, now appears three times.</a:t>
            </a:r>
            <a:endParaRPr lang="en-US" sz="1500" dirty="0"/>
          </a:p>
        </p:txBody>
      </p:sp>
      <p:sp>
        <p:nvSpPr>
          <p:cNvPr id="8" name="card-1"/>
          <p:cNvSpPr/>
          <p:nvPr/>
        </p:nvSpPr>
        <p:spPr>
          <a:xfrm>
            <a:off x="4297680" y="1463040"/>
            <a:ext cx="3474720" cy="4480560"/>
          </a:xfrm>
          <a:prstGeom prst="roundRect">
            <a:avLst>
              <a:gd name="adj" fmla="val 3158"/>
            </a:avLst>
          </a:prstGeom>
          <a:solidFill>
            <a:srgbClr val="FDECEA"/>
          </a:solidFill>
          <a:ln w="12700">
            <a:solidFill>
              <a:srgbClr val="FDECEA"/>
            </a:solidFill>
            <a:prstDash val="solid"/>
          </a:ln>
        </p:spPr>
      </p:sp>
      <p:pic>
        <p:nvPicPr>
          <p:cNvPr id="9" name="card-icon-1" descr="preencoded.png"/>
          <p:cNvPicPr>
            <a:picLocks noChangeAspect="1"/>
          </p:cNvPicPr>
          <p:nvPr/>
        </p:nvPicPr>
        <p:blipFill>
          <a:blip r:embed="rId4"/>
          <a:stretch>
            <a:fillRect/>
          </a:stretch>
        </p:blipFill>
        <p:spPr>
          <a:xfrm>
            <a:off x="4617720" y="1828800"/>
            <a:ext cx="548640" cy="548640"/>
          </a:xfrm>
          <a:prstGeom prst="rect">
            <a:avLst/>
          </a:prstGeom>
        </p:spPr>
      </p:pic>
      <p:sp>
        <p:nvSpPr>
          <p:cNvPr id="10" name="Text 6"/>
          <p:cNvSpPr txBox="1"/>
          <p:nvPr/>
        </p:nvSpPr>
        <p:spPr>
          <a:xfrm>
            <a:off x="4617720" y="2514600"/>
            <a:ext cx="2834640" cy="1005840"/>
          </a:xfrm>
          <a:prstGeom prst="rect">
            <a:avLst/>
          </a:prstGeom>
          <a:noFill/>
          <a:ln/>
        </p:spPr>
        <p:txBody>
          <a:bodyPr wrap="square" lIns="0" tIns="0" rIns="0" bIns="0" rtlCol="0" anchor="ctr"/>
          <a:lstStyle/>
          <a:p>
            <a:pPr marL="0" indent="0">
              <a:buNone/>
            </a:pPr>
            <a:r>
              <a:rPr lang="en-US" sz="5400" b="1" dirty="0">
                <a:solidFill>
                  <a:schemeClr val="accent1"/>
                </a:solidFill>
                <a:latin typeface="Cambria" pitchFamily="34" charset="0"/>
                <a:ea typeface="Cambria" pitchFamily="34" charset="-122"/>
                <a:cs typeface="Cambria" pitchFamily="34" charset="-120"/>
              </a:rPr>
              <a:t>DVLA</a:t>
            </a:r>
            <a:endParaRPr lang="en-US" sz="5400" dirty="0"/>
          </a:p>
        </p:txBody>
      </p:sp>
      <p:sp>
        <p:nvSpPr>
          <p:cNvPr id="11" name="Text 7"/>
          <p:cNvSpPr txBox="1"/>
          <p:nvPr/>
        </p:nvSpPr>
        <p:spPr>
          <a:xfrm>
            <a:off x="4617720" y="3611880"/>
            <a:ext cx="2834640" cy="822960"/>
          </a:xfrm>
          <a:prstGeom prst="rect">
            <a:avLst/>
          </a:prstGeom>
          <a:noFill/>
          <a:ln/>
        </p:spPr>
        <p:txBody>
          <a:bodyPr wrap="square" lIns="0" tIns="0" rIns="0" bIns="0" rtlCol="0" anchor="t"/>
          <a:lstStyle/>
          <a:p>
            <a:pPr marL="0" indent="0">
              <a:buNone/>
            </a:pPr>
            <a:r>
              <a:rPr lang="en-US" sz="2000" b="1" dirty="0">
                <a:solidFill>
                  <a:schemeClr val="tx1"/>
                </a:solidFill>
              </a:rPr>
              <a:t>Retention pipeline is failing</a:t>
            </a:r>
            <a:endParaRPr lang="en-US" sz="2000" dirty="0"/>
          </a:p>
        </p:txBody>
      </p:sp>
      <p:sp>
        <p:nvSpPr>
          <p:cNvPr id="12" name="Text 8"/>
          <p:cNvSpPr txBox="1"/>
          <p:nvPr/>
        </p:nvSpPr>
        <p:spPr>
          <a:xfrm>
            <a:off x="4617720" y="4434840"/>
            <a:ext cx="2834640" cy="1280160"/>
          </a:xfrm>
          <a:prstGeom prst="rect">
            <a:avLst/>
          </a:prstGeom>
          <a:noFill/>
          <a:ln/>
        </p:spPr>
        <p:txBody>
          <a:bodyPr wrap="square" lIns="0" tIns="0" rIns="0" bIns="0" rtlCol="0" anchor="t"/>
          <a:lstStyle/>
          <a:p>
            <a:pPr marL="0" indent="0">
              <a:buNone/>
            </a:pPr>
            <a:r>
              <a:rPr lang="en-US" sz="1500" dirty="0">
                <a:solidFill>
                  <a:schemeClr val="tx1"/>
                </a:solidFill>
              </a:rPr>
              <a:t>Exact duplicates (same timestamp) stop DVLA (Driver and Vehicle Licensing) data being removed: a compliance risk.</a:t>
            </a:r>
            <a:endParaRPr lang="en-US" sz="1500" dirty="0"/>
          </a:p>
        </p:txBody>
      </p:sp>
      <p:sp>
        <p:nvSpPr>
          <p:cNvPr id="13" name="card-2"/>
          <p:cNvSpPr/>
          <p:nvPr/>
        </p:nvSpPr>
        <p:spPr>
          <a:xfrm>
            <a:off x="8046720" y="1463040"/>
            <a:ext cx="3474720" cy="4480560"/>
          </a:xfrm>
          <a:prstGeom prst="roundRect">
            <a:avLst>
              <a:gd name="adj" fmla="val 3158"/>
            </a:avLst>
          </a:prstGeom>
          <a:solidFill>
            <a:srgbClr val="E6F4EA"/>
          </a:solidFill>
          <a:ln w="12700">
            <a:solidFill>
              <a:srgbClr val="E6F4EA"/>
            </a:solidFill>
            <a:prstDash val="solid"/>
          </a:ln>
        </p:spPr>
      </p:sp>
      <p:pic>
        <p:nvPicPr>
          <p:cNvPr id="14" name="card-icon-2" descr="preencoded.png"/>
          <p:cNvPicPr>
            <a:picLocks noChangeAspect="1"/>
          </p:cNvPicPr>
          <p:nvPr/>
        </p:nvPicPr>
        <p:blipFill>
          <a:blip r:embed="rId5"/>
          <a:stretch>
            <a:fillRect/>
          </a:stretch>
        </p:blipFill>
        <p:spPr>
          <a:xfrm>
            <a:off x="8366760" y="1828800"/>
            <a:ext cx="548640" cy="548640"/>
          </a:xfrm>
          <a:prstGeom prst="rect">
            <a:avLst/>
          </a:prstGeom>
        </p:spPr>
      </p:pic>
      <p:sp>
        <p:nvSpPr>
          <p:cNvPr id="15" name="Text 10"/>
          <p:cNvSpPr txBox="1"/>
          <p:nvPr/>
        </p:nvSpPr>
        <p:spPr>
          <a:xfrm>
            <a:off x="8366760" y="2514600"/>
            <a:ext cx="2834640" cy="1005840"/>
          </a:xfrm>
          <a:prstGeom prst="rect">
            <a:avLst/>
          </a:prstGeom>
          <a:noFill/>
          <a:ln/>
        </p:spPr>
        <p:txBody>
          <a:bodyPr wrap="square" lIns="0" tIns="0" rIns="0" bIns="0" rtlCol="0" anchor="ctr"/>
          <a:lstStyle/>
          <a:p>
            <a:pPr marL="0" indent="0">
              <a:buNone/>
            </a:pPr>
            <a:r>
              <a:rPr lang="en-US" sz="5400" b="1" dirty="0">
                <a:solidFill>
                  <a:schemeClr val="accent3"/>
                </a:solidFill>
                <a:latin typeface="Cambria" pitchFamily="34" charset="0"/>
                <a:ea typeface="Cambria" pitchFamily="34" charset="-122"/>
                <a:cs typeface="Cambria" pitchFamily="34" charset="-120"/>
              </a:rPr>
              <a:t>OK</a:t>
            </a:r>
            <a:endParaRPr lang="en-US" sz="5400" dirty="0"/>
          </a:p>
        </p:txBody>
      </p:sp>
      <p:sp>
        <p:nvSpPr>
          <p:cNvPr id="16" name="Text 11"/>
          <p:cNvSpPr txBox="1"/>
          <p:nvPr/>
        </p:nvSpPr>
        <p:spPr>
          <a:xfrm>
            <a:off x="8366760" y="3611880"/>
            <a:ext cx="2834640" cy="822960"/>
          </a:xfrm>
          <a:prstGeom prst="rect">
            <a:avLst/>
          </a:prstGeom>
          <a:noFill/>
          <a:ln/>
        </p:spPr>
        <p:txBody>
          <a:bodyPr wrap="square" lIns="0" tIns="0" rIns="0" bIns="0" rtlCol="0" anchor="t"/>
          <a:lstStyle/>
          <a:p>
            <a:pPr marL="0" indent="0">
              <a:buNone/>
            </a:pPr>
            <a:r>
              <a:rPr lang="en-US" sz="2000" b="1" dirty="0">
                <a:solidFill>
                  <a:schemeClr val="tx1"/>
                </a:solidFill>
              </a:rPr>
              <a:t>Reconciliation is not impacted</a:t>
            </a:r>
            <a:endParaRPr lang="en-US" sz="2000" dirty="0"/>
          </a:p>
        </p:txBody>
      </p:sp>
      <p:sp>
        <p:nvSpPr>
          <p:cNvPr id="17" name="Text 12"/>
          <p:cNvSpPr txBox="1"/>
          <p:nvPr/>
        </p:nvSpPr>
        <p:spPr>
          <a:xfrm>
            <a:off x="8366760" y="4434840"/>
            <a:ext cx="2834640" cy="1280160"/>
          </a:xfrm>
          <a:prstGeom prst="rect">
            <a:avLst/>
          </a:prstGeom>
          <a:noFill/>
          <a:ln/>
        </p:spPr>
        <p:txBody>
          <a:bodyPr wrap="square" lIns="0" tIns="0" rIns="0" bIns="0" rtlCol="0" anchor="t"/>
          <a:lstStyle/>
          <a:p>
            <a:pPr marL="0" indent="0">
              <a:buNone/>
            </a:pPr>
            <a:r>
              <a:rPr lang="en-US" sz="1500" dirty="0">
                <a:solidFill>
                  <a:schemeClr val="tx1"/>
                </a:solidFill>
              </a:rPr>
              <a:t>Reconciliation applies its own duplicate handling and is unaffected by all five scenarios.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B879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Every copy lands; our dedup only filters on the way to Bronze</a:t>
            </a:r>
            <a:endParaRPr lang="en-US" sz="3000" dirty="0"/>
          </a:p>
        </p:txBody>
      </p:sp>
      <p:pic>
        <p:nvPicPr>
          <p:cNvPr id="3" name="diagram-flow" descr="/tmp/claude-0/-home-claude/4680a3a0-0e47-5e9e-b25b-658427346815/scratchpad/audience/1_how_data_flows_slide.png"/>
          <p:cNvPicPr>
            <a:picLocks noChangeAspect="1"/>
          </p:cNvPicPr>
          <p:nvPr/>
        </p:nvPicPr>
        <p:blipFill>
          <a:blip r:embed="rId3"/>
          <a:stretch>
            <a:fillRect/>
          </a:stretch>
        </p:blipFill>
        <p:spPr>
          <a:xfrm>
            <a:off x="320040" y="1234440"/>
            <a:ext cx="11548872" cy="2676265"/>
          </a:xfrm>
          <a:prstGeom prst="rect">
            <a:avLst/>
          </a:prstGeom>
        </p:spPr>
      </p:pic>
      <p:sp>
        <p:nvSpPr>
          <p:cNvPr id="4" name="flow-callout-0"/>
          <p:cNvSpPr/>
          <p:nvPr/>
        </p:nvSpPr>
        <p:spPr>
          <a:xfrm>
            <a:off x="548640" y="4069080"/>
            <a:ext cx="3474720" cy="2011680"/>
          </a:xfrm>
          <a:prstGeom prst="roundRect">
            <a:avLst>
              <a:gd name="adj" fmla="val 4545"/>
            </a:avLst>
          </a:prstGeom>
          <a:solidFill>
            <a:srgbClr val="E8F0FD"/>
          </a:solidFill>
          <a:ln w="12700">
            <a:solidFill>
              <a:srgbClr val="E8F0FD"/>
            </a:solidFill>
            <a:prstDash val="solid"/>
          </a:ln>
        </p:spPr>
      </p:sp>
      <p:sp>
        <p:nvSpPr>
          <p:cNvPr id="5" name="Text 2"/>
          <p:cNvSpPr txBox="1"/>
          <p:nvPr/>
        </p:nvSpPr>
        <p:spPr>
          <a:xfrm>
            <a:off x="822960" y="4251960"/>
            <a:ext cx="2926080" cy="411480"/>
          </a:xfrm>
          <a:prstGeom prst="rect">
            <a:avLst/>
          </a:prstGeom>
          <a:noFill/>
          <a:ln/>
        </p:spPr>
        <p:txBody>
          <a:bodyPr wrap="square" lIns="0" tIns="0" rIns="0" bIns="0" rtlCol="0" anchor="ctr"/>
          <a:lstStyle/>
          <a:p>
            <a:pPr marL="0" indent="0">
              <a:buNone/>
            </a:pPr>
            <a:r>
              <a:rPr lang="en-US" sz="1800" b="1" dirty="0">
                <a:solidFill>
                  <a:schemeClr val="accent2"/>
                </a:solidFill>
              </a:rPr>
              <a:t>Every copy lands</a:t>
            </a:r>
            <a:endParaRPr lang="en-US" sz="1800" dirty="0"/>
          </a:p>
        </p:txBody>
      </p:sp>
      <p:sp>
        <p:nvSpPr>
          <p:cNvPr id="6" name="Text 3"/>
          <p:cNvSpPr txBox="1"/>
          <p:nvPr/>
        </p:nvSpPr>
        <p:spPr>
          <a:xfrm>
            <a:off x="822960" y="4727448"/>
            <a:ext cx="2926080" cy="1234440"/>
          </a:xfrm>
          <a:prstGeom prst="rect">
            <a:avLst/>
          </a:prstGeom>
          <a:noFill/>
          <a:ln/>
        </p:spPr>
        <p:txBody>
          <a:bodyPr wrap="square" lIns="0" tIns="0" rIns="0" bIns="0" rtlCol="0" anchor="t"/>
          <a:lstStyle/>
          <a:p>
            <a:pPr marL="0" indent="0">
              <a:buNone/>
            </a:pPr>
            <a:r>
              <a:rPr lang="en-US" sz="1400" dirty="0">
                <a:solidFill>
                  <a:schemeClr val="tx1"/>
                </a:solidFill>
              </a:rPr>
              <a:t>MQS data is ingested as delivered; the landing table keeps every repeat copy.</a:t>
            </a:r>
            <a:endParaRPr lang="en-US" sz="1400" dirty="0"/>
          </a:p>
        </p:txBody>
      </p:sp>
      <p:sp>
        <p:nvSpPr>
          <p:cNvPr id="7" name="flow-callout-1"/>
          <p:cNvSpPr/>
          <p:nvPr/>
        </p:nvSpPr>
        <p:spPr>
          <a:xfrm>
            <a:off x="4297680" y="4069080"/>
            <a:ext cx="3474720" cy="2011680"/>
          </a:xfrm>
          <a:prstGeom prst="roundRect">
            <a:avLst>
              <a:gd name="adj" fmla="val 4545"/>
            </a:avLst>
          </a:prstGeom>
          <a:solidFill>
            <a:schemeClr val="bg2"/>
          </a:solidFill>
          <a:ln w="12700">
            <a:solidFill>
              <a:schemeClr val="bg2"/>
            </a:solidFill>
            <a:prstDash val="solid"/>
          </a:ln>
        </p:spPr>
      </p:sp>
      <p:sp>
        <p:nvSpPr>
          <p:cNvPr id="8" name="Text 5"/>
          <p:cNvSpPr txBox="1"/>
          <p:nvPr/>
        </p:nvSpPr>
        <p:spPr>
          <a:xfrm>
            <a:off x="4572000" y="4251960"/>
            <a:ext cx="2926080" cy="411480"/>
          </a:xfrm>
          <a:prstGeom prst="rect">
            <a:avLst/>
          </a:prstGeom>
          <a:noFill/>
          <a:ln/>
        </p:spPr>
        <p:txBody>
          <a:bodyPr wrap="square" lIns="0" tIns="0" rIns="0" bIns="0" rtlCol="0" anchor="ctr"/>
          <a:lstStyle/>
          <a:p>
            <a:pPr marL="0" indent="0">
              <a:buNone/>
            </a:pPr>
            <a:r>
              <a:rPr lang="en-US" sz="1800" b="1" dirty="0">
                <a:solidFill>
                  <a:schemeClr val="tx1"/>
                </a:solidFill>
              </a:rPr>
              <a:t>Dedup is narrow</a:t>
            </a:r>
            <a:endParaRPr lang="en-US" sz="1800" dirty="0"/>
          </a:p>
        </p:txBody>
      </p:sp>
      <p:sp>
        <p:nvSpPr>
          <p:cNvPr id="9" name="Text 6"/>
          <p:cNvSpPr txBox="1"/>
          <p:nvPr/>
        </p:nvSpPr>
        <p:spPr>
          <a:xfrm>
            <a:off x="4572000" y="4727448"/>
            <a:ext cx="2926080" cy="1234440"/>
          </a:xfrm>
          <a:prstGeom prst="rect">
            <a:avLst/>
          </a:prstGeom>
          <a:noFill/>
          <a:ln/>
        </p:spPr>
        <p:txBody>
          <a:bodyPr wrap="square" lIns="0" tIns="0" rIns="0" bIns="0" rtlCol="0" anchor="t"/>
          <a:lstStyle/>
          <a:p>
            <a:pPr marL="0" indent="0">
              <a:buNone/>
            </a:pPr>
            <a:r>
              <a:rPr lang="en-US" sz="1400" dirty="0">
                <a:solidFill>
                  <a:schemeClr val="tx1"/>
                </a:solidFill>
              </a:rPr>
              <a:t>It only removes identical copies (matched on header columns) arriving close together. Anything else flows on to Bronze, Silver and Gold.</a:t>
            </a:r>
            <a:endParaRPr lang="en-US" sz="1400" dirty="0"/>
          </a:p>
        </p:txBody>
      </p:sp>
      <p:sp>
        <p:nvSpPr>
          <p:cNvPr id="10" name="flow-callout-2"/>
          <p:cNvSpPr/>
          <p:nvPr/>
        </p:nvSpPr>
        <p:spPr>
          <a:xfrm>
            <a:off x="8046720" y="4069080"/>
            <a:ext cx="3474720" cy="2011680"/>
          </a:xfrm>
          <a:prstGeom prst="roundRect">
            <a:avLst>
              <a:gd name="adj" fmla="val 4545"/>
            </a:avLst>
          </a:prstGeom>
          <a:solidFill>
            <a:srgbClr val="FDECEA"/>
          </a:solidFill>
          <a:ln w="12700">
            <a:solidFill>
              <a:srgbClr val="FDECEA"/>
            </a:solidFill>
            <a:prstDash val="solid"/>
          </a:ln>
        </p:spPr>
      </p:sp>
      <p:sp>
        <p:nvSpPr>
          <p:cNvPr id="11" name="Text 8"/>
          <p:cNvSpPr txBox="1"/>
          <p:nvPr/>
        </p:nvSpPr>
        <p:spPr>
          <a:xfrm>
            <a:off x="8321040" y="4251960"/>
            <a:ext cx="2926080" cy="411480"/>
          </a:xfrm>
          <a:prstGeom prst="rect">
            <a:avLst/>
          </a:prstGeom>
          <a:noFill/>
          <a:ln/>
        </p:spPr>
        <p:txBody>
          <a:bodyPr wrap="square" lIns="0" tIns="0" rIns="0" bIns="0" rtlCol="0" anchor="ctr"/>
          <a:lstStyle/>
          <a:p>
            <a:pPr marL="0" indent="0">
              <a:buNone/>
            </a:pPr>
            <a:r>
              <a:rPr lang="en-US" sz="1800" b="1" dirty="0">
                <a:solidFill>
                  <a:schemeClr val="accent1"/>
                </a:solidFill>
              </a:rPr>
              <a:t>Separate pipelines on landing</a:t>
            </a:r>
            <a:endParaRPr lang="en-US" sz="1800" dirty="0"/>
          </a:p>
        </p:txBody>
      </p:sp>
      <p:sp>
        <p:nvSpPr>
          <p:cNvPr id="12" name="Text 9"/>
          <p:cNvSpPr txBox="1"/>
          <p:nvPr/>
        </p:nvSpPr>
        <p:spPr>
          <a:xfrm>
            <a:off x="8321040" y="4727448"/>
            <a:ext cx="2926080" cy="1234440"/>
          </a:xfrm>
          <a:prstGeom prst="rect">
            <a:avLst/>
          </a:prstGeom>
          <a:noFill/>
          <a:ln/>
        </p:spPr>
        <p:txBody>
          <a:bodyPr wrap="square" lIns="0" tIns="0" rIns="0" bIns="0" rtlCol="0" anchor="t"/>
          <a:lstStyle/>
          <a:p>
            <a:pPr marL="0" indent="0">
              <a:buNone/>
            </a:pPr>
            <a:r>
              <a:rPr lang="en-US" sz="1400" dirty="0">
                <a:solidFill>
                  <a:schemeClr val="tx1"/>
                </a:solidFill>
              </a:rPr>
              <a:t>DVLA retention scans landing and Bronze. Reconciliation has its own dedup and is not impacted.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B879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Five duplicate scenarios: dedup stops only two</a:t>
            </a:r>
            <a:endParaRPr lang="en-US" sz="3000" dirty="0"/>
          </a:p>
        </p:txBody>
      </p:sp>
      <p:pic>
        <p:nvPicPr>
          <p:cNvPr id="3" name="diagram-reach" descr="/tmp/claude-0/-home-claude/4680a3a0-0e47-5e9e-b25b-658427346815/scratchpad/audience/2_how_far_each_scenario_travels_slide.png"/>
          <p:cNvPicPr>
            <a:picLocks noChangeAspect="1"/>
          </p:cNvPicPr>
          <p:nvPr/>
        </p:nvPicPr>
        <p:blipFill>
          <a:blip r:embed="rId3"/>
          <a:stretch>
            <a:fillRect/>
          </a:stretch>
        </p:blipFill>
        <p:spPr>
          <a:xfrm>
            <a:off x="579711" y="1325880"/>
            <a:ext cx="11032273" cy="484632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B879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One quote resent on later days became three rows in Gold</a:t>
            </a:r>
            <a:endParaRPr lang="en-US" sz="3000" dirty="0"/>
          </a:p>
        </p:txBody>
      </p:sp>
      <p:sp>
        <p:nvSpPr>
          <p:cNvPr id="3" name="step-0"/>
          <p:cNvSpPr/>
          <p:nvPr/>
        </p:nvSpPr>
        <p:spPr>
          <a:xfrm>
            <a:off x="548640" y="1508760"/>
            <a:ext cx="2057400" cy="1143000"/>
          </a:xfrm>
          <a:prstGeom prst="roundRect">
            <a:avLst>
              <a:gd name="adj" fmla="val 8000"/>
            </a:avLst>
          </a:prstGeom>
          <a:solidFill>
            <a:srgbClr val="E8F0FD"/>
          </a:solidFill>
          <a:ln w="12700">
            <a:solidFill>
              <a:srgbClr val="E8F0FD"/>
            </a:solidFill>
            <a:prstDash val="solid"/>
          </a:ln>
        </p:spPr>
      </p:sp>
      <p:sp>
        <p:nvSpPr>
          <p:cNvPr id="4" name="Text 2"/>
          <p:cNvSpPr txBox="1"/>
          <p:nvPr/>
        </p:nvSpPr>
        <p:spPr>
          <a:xfrm>
            <a:off x="731520" y="1645920"/>
            <a:ext cx="1737360" cy="457200"/>
          </a:xfrm>
          <a:prstGeom prst="rect">
            <a:avLst/>
          </a:prstGeom>
          <a:noFill/>
          <a:ln/>
        </p:spPr>
        <p:txBody>
          <a:bodyPr wrap="square" lIns="0" tIns="0" rIns="0" bIns="0" rtlCol="0" anchor="ctr"/>
          <a:lstStyle/>
          <a:p>
            <a:pPr marL="0" indent="0">
              <a:buNone/>
            </a:pPr>
            <a:r>
              <a:rPr lang="en-US" sz="2200" b="1" dirty="0">
                <a:solidFill>
                  <a:schemeClr val="accent2"/>
                </a:solidFill>
              </a:rPr>
              <a:t>22 Sep</a:t>
            </a:r>
            <a:endParaRPr lang="en-US" sz="2200" dirty="0"/>
          </a:p>
        </p:txBody>
      </p:sp>
      <p:sp>
        <p:nvSpPr>
          <p:cNvPr id="5" name="Text 3"/>
          <p:cNvSpPr txBox="1"/>
          <p:nvPr/>
        </p:nvSpPr>
        <p:spPr>
          <a:xfrm>
            <a:off x="731520" y="2130552"/>
            <a:ext cx="1737360" cy="411480"/>
          </a:xfrm>
          <a:prstGeom prst="rect">
            <a:avLst/>
          </a:prstGeom>
          <a:noFill/>
          <a:ln/>
        </p:spPr>
        <p:txBody>
          <a:bodyPr wrap="square" lIns="0" tIns="0" rIns="0" bIns="0" rtlCol="0" anchor="ctr"/>
          <a:lstStyle/>
          <a:p>
            <a:pPr marL="0" indent="0">
              <a:buNone/>
            </a:pPr>
            <a:r>
              <a:rPr lang="en-US" sz="1400" dirty="0">
                <a:solidFill>
                  <a:schemeClr val="tx1"/>
                </a:solidFill>
              </a:rPr>
              <a:t>Quote first sent</a:t>
            </a:r>
            <a:endParaRPr lang="en-US" sz="1400" dirty="0"/>
          </a:p>
        </p:txBody>
      </p:sp>
      <p:sp>
        <p:nvSpPr>
          <p:cNvPr id="6" name="step-arrow-0"/>
          <p:cNvSpPr/>
          <p:nvPr/>
        </p:nvSpPr>
        <p:spPr>
          <a:xfrm>
            <a:off x="2651760" y="1965960"/>
            <a:ext cx="201168" cy="228600"/>
          </a:xfrm>
          <a:prstGeom prst="rightArrow">
            <a:avLst/>
          </a:prstGeom>
          <a:solidFill>
            <a:srgbClr val="7B8794"/>
          </a:solidFill>
          <a:ln w="12700">
            <a:solidFill>
              <a:srgbClr val="7B8794"/>
            </a:solidFill>
            <a:prstDash val="solid"/>
          </a:ln>
        </p:spPr>
      </p:sp>
      <p:sp>
        <p:nvSpPr>
          <p:cNvPr id="7" name="step-1"/>
          <p:cNvSpPr/>
          <p:nvPr/>
        </p:nvSpPr>
        <p:spPr>
          <a:xfrm>
            <a:off x="2880360" y="1508760"/>
            <a:ext cx="2057400" cy="1143000"/>
          </a:xfrm>
          <a:prstGeom prst="roundRect">
            <a:avLst>
              <a:gd name="adj" fmla="val 8000"/>
            </a:avLst>
          </a:prstGeom>
          <a:solidFill>
            <a:srgbClr val="FDECEA"/>
          </a:solidFill>
          <a:ln w="12700">
            <a:solidFill>
              <a:srgbClr val="FDECEA"/>
            </a:solidFill>
            <a:prstDash val="solid"/>
          </a:ln>
        </p:spPr>
      </p:sp>
      <p:sp>
        <p:nvSpPr>
          <p:cNvPr id="8" name="Text 6"/>
          <p:cNvSpPr txBox="1"/>
          <p:nvPr/>
        </p:nvSpPr>
        <p:spPr>
          <a:xfrm>
            <a:off x="3063240" y="1645920"/>
            <a:ext cx="1737360" cy="457200"/>
          </a:xfrm>
          <a:prstGeom prst="rect">
            <a:avLst/>
          </a:prstGeom>
          <a:noFill/>
          <a:ln/>
        </p:spPr>
        <p:txBody>
          <a:bodyPr wrap="square" lIns="0" tIns="0" rIns="0" bIns="0" rtlCol="0" anchor="ctr"/>
          <a:lstStyle/>
          <a:p>
            <a:pPr marL="0" indent="0">
              <a:buNone/>
            </a:pPr>
            <a:r>
              <a:rPr lang="en-US" sz="2200" b="1" dirty="0">
                <a:solidFill>
                  <a:schemeClr val="accent1"/>
                </a:solidFill>
              </a:rPr>
              <a:t>23 Sep</a:t>
            </a:r>
            <a:endParaRPr lang="en-US" sz="2200" dirty="0"/>
          </a:p>
        </p:txBody>
      </p:sp>
      <p:sp>
        <p:nvSpPr>
          <p:cNvPr id="9" name="Text 7"/>
          <p:cNvSpPr txBox="1"/>
          <p:nvPr/>
        </p:nvSpPr>
        <p:spPr>
          <a:xfrm>
            <a:off x="3063240" y="2130552"/>
            <a:ext cx="1737360" cy="411480"/>
          </a:xfrm>
          <a:prstGeom prst="rect">
            <a:avLst/>
          </a:prstGeom>
          <a:noFill/>
          <a:ln/>
        </p:spPr>
        <p:txBody>
          <a:bodyPr wrap="square" lIns="0" tIns="0" rIns="0" bIns="0" rtlCol="0" anchor="ctr"/>
          <a:lstStyle/>
          <a:p>
            <a:pPr marL="0" indent="0">
              <a:buNone/>
            </a:pPr>
            <a:r>
              <a:rPr lang="en-US" sz="1400" dirty="0">
                <a:solidFill>
                  <a:schemeClr val="tx1"/>
                </a:solidFill>
              </a:rPr>
              <a:t>Resent (02:00 UTC)</a:t>
            </a:r>
            <a:endParaRPr lang="en-US" sz="1400" dirty="0"/>
          </a:p>
        </p:txBody>
      </p:sp>
      <p:sp>
        <p:nvSpPr>
          <p:cNvPr id="10" name="step-arrow-1"/>
          <p:cNvSpPr/>
          <p:nvPr/>
        </p:nvSpPr>
        <p:spPr>
          <a:xfrm>
            <a:off x="4983480" y="1965960"/>
            <a:ext cx="201168" cy="228600"/>
          </a:xfrm>
          <a:prstGeom prst="rightArrow">
            <a:avLst/>
          </a:prstGeom>
          <a:solidFill>
            <a:srgbClr val="7B8794"/>
          </a:solidFill>
          <a:ln w="12700">
            <a:solidFill>
              <a:srgbClr val="7B8794"/>
            </a:solidFill>
            <a:prstDash val="solid"/>
          </a:ln>
        </p:spPr>
      </p:sp>
      <p:sp>
        <p:nvSpPr>
          <p:cNvPr id="11" name="step-2"/>
          <p:cNvSpPr/>
          <p:nvPr/>
        </p:nvSpPr>
        <p:spPr>
          <a:xfrm>
            <a:off x="5212080" y="1508760"/>
            <a:ext cx="2057400" cy="1143000"/>
          </a:xfrm>
          <a:prstGeom prst="roundRect">
            <a:avLst>
              <a:gd name="adj" fmla="val 8000"/>
            </a:avLst>
          </a:prstGeom>
          <a:solidFill>
            <a:srgbClr val="FDECEA"/>
          </a:solidFill>
          <a:ln w="12700">
            <a:solidFill>
              <a:srgbClr val="FDECEA"/>
            </a:solidFill>
            <a:prstDash val="solid"/>
          </a:ln>
        </p:spPr>
      </p:sp>
      <p:sp>
        <p:nvSpPr>
          <p:cNvPr id="12" name="Text 10"/>
          <p:cNvSpPr txBox="1"/>
          <p:nvPr/>
        </p:nvSpPr>
        <p:spPr>
          <a:xfrm>
            <a:off x="5394960" y="1645920"/>
            <a:ext cx="1737360" cy="457200"/>
          </a:xfrm>
          <a:prstGeom prst="rect">
            <a:avLst/>
          </a:prstGeom>
          <a:noFill/>
          <a:ln/>
        </p:spPr>
        <p:txBody>
          <a:bodyPr wrap="square" lIns="0" tIns="0" rIns="0" bIns="0" rtlCol="0" anchor="ctr"/>
          <a:lstStyle/>
          <a:p>
            <a:pPr marL="0" indent="0">
              <a:buNone/>
            </a:pPr>
            <a:r>
              <a:rPr lang="en-US" sz="2200" b="1" dirty="0">
                <a:solidFill>
                  <a:schemeClr val="accent1"/>
                </a:solidFill>
              </a:rPr>
              <a:t>25 Sep</a:t>
            </a:r>
            <a:endParaRPr lang="en-US" sz="2200" dirty="0"/>
          </a:p>
        </p:txBody>
      </p:sp>
      <p:sp>
        <p:nvSpPr>
          <p:cNvPr id="13" name="Text 11"/>
          <p:cNvSpPr txBox="1"/>
          <p:nvPr/>
        </p:nvSpPr>
        <p:spPr>
          <a:xfrm>
            <a:off x="5394960" y="2130552"/>
            <a:ext cx="1737360" cy="411480"/>
          </a:xfrm>
          <a:prstGeom prst="rect">
            <a:avLst/>
          </a:prstGeom>
          <a:noFill/>
          <a:ln/>
        </p:spPr>
        <p:txBody>
          <a:bodyPr wrap="square" lIns="0" tIns="0" rIns="0" bIns="0" rtlCol="0" anchor="ctr"/>
          <a:lstStyle/>
          <a:p>
            <a:pPr marL="0" indent="0">
              <a:buNone/>
            </a:pPr>
            <a:r>
              <a:rPr lang="en-US" sz="1400" dirty="0">
                <a:solidFill>
                  <a:schemeClr val="tx1"/>
                </a:solidFill>
              </a:rPr>
              <a:t>Resent (02:00 UTC)</a:t>
            </a:r>
            <a:endParaRPr lang="en-US" sz="1400" dirty="0"/>
          </a:p>
        </p:txBody>
      </p:sp>
      <p:sp>
        <p:nvSpPr>
          <p:cNvPr id="14" name="result"/>
          <p:cNvSpPr/>
          <p:nvPr/>
        </p:nvSpPr>
        <p:spPr>
          <a:xfrm>
            <a:off x="548640" y="2926080"/>
            <a:ext cx="6720840" cy="1737360"/>
          </a:xfrm>
          <a:prstGeom prst="roundRect">
            <a:avLst>
              <a:gd name="adj" fmla="val 5263"/>
            </a:avLst>
          </a:prstGeom>
          <a:solidFill>
            <a:schemeClr val="accent1"/>
          </a:solidFill>
          <a:ln w="12700">
            <a:solidFill>
              <a:schemeClr val="accent1"/>
            </a:solidFill>
            <a:prstDash val="solid"/>
          </a:ln>
        </p:spPr>
      </p:sp>
      <p:sp>
        <p:nvSpPr>
          <p:cNvPr id="15" name="Text 13"/>
          <p:cNvSpPr txBox="1"/>
          <p:nvPr/>
        </p:nvSpPr>
        <p:spPr>
          <a:xfrm>
            <a:off x="822960" y="3063240"/>
            <a:ext cx="6217920" cy="1463040"/>
          </a:xfrm>
          <a:prstGeom prst="rect">
            <a:avLst/>
          </a:prstGeom>
          <a:noFill/>
          <a:ln/>
        </p:spPr>
        <p:txBody>
          <a:bodyPr wrap="square" lIns="0" tIns="0" rIns="0" bIns="0" rtlCol="0" anchor="ctr"/>
          <a:lstStyle/>
          <a:p>
            <a:pPr marL="0" indent="0">
              <a:buNone/>
            </a:pPr>
            <a:r>
              <a:rPr lang="en-US" sz="2600" b="1" dirty="0">
                <a:solidFill>
                  <a:schemeClr val="bg1"/>
                </a:solidFill>
              </a:rPr>
              <a:t>3 rows in Silver, 3 rows in Gold</a:t>
            </a:r>
            <a:endParaRPr lang="en-US" sz="2600" dirty="0"/>
          </a:p>
          <a:p>
            <a:pPr marL="0" indent="0">
              <a:buNone/>
            </a:pPr>
            <a:r>
              <a:rPr lang="en-US" sz="1500" dirty="0">
                <a:solidFill>
                  <a:schemeClr val="bg1"/>
                </a:solidFill>
              </a:rPr>
              <a:t>Same quote, same business content, one row per day it arrived. Any report counting quotes by date counts it three times.</a:t>
            </a:r>
            <a:endParaRPr lang="en-US" sz="2600" dirty="0"/>
          </a:p>
        </p:txBody>
      </p:sp>
      <p:sp>
        <p:nvSpPr>
          <p:cNvPr id="16" name="Text 14"/>
          <p:cNvSpPr txBox="1"/>
          <p:nvPr/>
        </p:nvSpPr>
        <p:spPr>
          <a:xfrm>
            <a:off x="548640" y="4800600"/>
            <a:ext cx="6720840" cy="365760"/>
          </a:xfrm>
          <a:prstGeom prst="rect">
            <a:avLst/>
          </a:prstGeom>
          <a:noFill/>
          <a:ln/>
        </p:spPr>
        <p:txBody>
          <a:bodyPr wrap="square" lIns="0" tIns="0" rIns="0" bIns="0" rtlCol="0" anchor="ctr"/>
          <a:lstStyle/>
          <a:p>
            <a:pPr marL="0" indent="0">
              <a:buNone/>
            </a:pPr>
            <a:r>
              <a:rPr lang="en-US" sz="1100" i="1" dirty="0">
                <a:solidFill>
                  <a:srgbClr val="52606D"/>
                </a:solidFill>
              </a:rPr>
              <a:t>Confirmed in a production sample (quote MQS-59908abc…), traced from Landing to Gold</a:t>
            </a:r>
            <a:endParaRPr lang="en-US" sz="1100" dirty="0"/>
          </a:p>
        </p:txBody>
      </p:sp>
      <p:sp>
        <p:nvSpPr>
          <p:cNvPr id="17" name="other-impacts"/>
          <p:cNvSpPr/>
          <p:nvPr/>
        </p:nvSpPr>
        <p:spPr>
          <a:xfrm>
            <a:off x="7589520" y="1508760"/>
            <a:ext cx="4023360" cy="3657600"/>
          </a:xfrm>
          <a:prstGeom prst="roundRect">
            <a:avLst>
              <a:gd name="adj" fmla="val 2500"/>
            </a:avLst>
          </a:prstGeom>
          <a:solidFill>
            <a:schemeClr val="bg2"/>
          </a:solidFill>
          <a:ln w="12700">
            <a:solidFill>
              <a:schemeClr val="bg2"/>
            </a:solidFill>
            <a:prstDash val="solid"/>
          </a:ln>
        </p:spPr>
      </p:sp>
      <p:sp>
        <p:nvSpPr>
          <p:cNvPr id="18" name="Text 16"/>
          <p:cNvSpPr txBox="1"/>
          <p:nvPr/>
        </p:nvSpPr>
        <p:spPr>
          <a:xfrm>
            <a:off x="7863840" y="1691640"/>
            <a:ext cx="3566160" cy="411480"/>
          </a:xfrm>
          <a:prstGeom prst="rect">
            <a:avLst/>
          </a:prstGeom>
          <a:noFill/>
          <a:ln/>
        </p:spPr>
        <p:txBody>
          <a:bodyPr wrap="square" lIns="0" tIns="0" rIns="0" bIns="0" rtlCol="0" anchor="ctr"/>
          <a:lstStyle/>
          <a:p>
            <a:pPr marL="0" indent="0">
              <a:buNone/>
            </a:pPr>
            <a:r>
              <a:rPr lang="en-US" sz="1700" b="1" dirty="0">
                <a:solidFill>
                  <a:schemeClr val="tx1"/>
                </a:solidFill>
              </a:rPr>
              <a:t>Other Silver and Gold impacts</a:t>
            </a:r>
            <a:endParaRPr lang="en-US" sz="1700" dirty="0"/>
          </a:p>
        </p:txBody>
      </p:sp>
      <p:sp>
        <p:nvSpPr>
          <p:cNvPr id="19" name="Text 17"/>
          <p:cNvSpPr txBox="1"/>
          <p:nvPr/>
        </p:nvSpPr>
        <p:spPr>
          <a:xfrm>
            <a:off x="7863840" y="2194560"/>
            <a:ext cx="3566160"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S3: conflicting versions of one quote in Silver and Gold; unclear which is correct</a:t>
            </a:r>
            <a:endParaRPr lang="en-US" sz="1400" dirty="0"/>
          </a:p>
          <a:p>
            <a:pPr marL="342900" indent="-342900">
              <a:spcAft>
                <a:spcPts val="800"/>
              </a:spcAft>
              <a:buSzPct val="100000"/>
              <a:buChar char="•"/>
            </a:pPr>
            <a:r>
              <a:rPr lang="en-US" sz="1400" dirty="0">
                <a:solidFill>
                  <a:schemeClr val="tx1"/>
                </a:solidFill>
              </a:rPr>
              <a:t>S4: historical duplicates in Silver, Gold and enrichment for the backfill period</a:t>
            </a:r>
            <a:endParaRPr lang="en-US" sz="1400" dirty="0"/>
          </a:p>
          <a:p>
            <a:pPr marL="342900" indent="-342900">
              <a:spcAft>
                <a:spcPts val="800"/>
              </a:spcAft>
              <a:buSzPct val="100000"/>
              <a:buChar char="•"/>
            </a:pPr>
            <a:r>
              <a:rPr lang="en-US" sz="1400" dirty="0">
                <a:solidFill>
                  <a:schemeClr val="tx1"/>
                </a:solidFill>
              </a:rPr>
              <a:t>Pricing ART reads the DLT views built on Bronze; S2, S3 and S4 duplicates expected there (being checked)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B879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8F4586C0-EF6F-C644-82E0-F3C73B12CA03}"/>
              </a:ext>
            </a:extLst>
          </p:cNvPr>
          <p:cNvSpPr>
            <a:spLocks noGrp="1"/>
          </p:cNvSpPr>
          <p:nvPr>
            <p:ph type="title" idx="100"/>
          </p:nvPr>
        </p:nvSpPr>
        <p:spPr/>
        <p:txBody>
          <a:bodyPr/>
          <a:lstStyle/>
          <a:p>
            <a:endParaRPr lang="en-US"/>
          </a:p>
        </p:txBody>
      </p:sp>
      <p:pic>
        <p:nvPicPr>
          <p:cNvPr id="23" name="Picture 22">
            <a:extLst>
              <a:ext uri="{FF2B5EF4-FFF2-40B4-BE49-F238E27FC236}">
                <a16:creationId xmlns:a16="http://schemas.microsoft.com/office/drawing/2014/main" id="{C62BB822-D948-5B45-A18F-E3F137018E7D}"/>
              </a:ext>
            </a:extLst>
          </p:cNvPr>
          <p:cNvPicPr>
            <a:picLocks noChangeAspect="1"/>
          </p:cNvPicPr>
          <p:nvPr/>
        </p:nvPicPr>
        <p:blipFill>
          <a:blip r:embed="rId3"/>
          <a:stretch>
            <a:fillRect/>
          </a:stretch>
        </p:blipFill>
        <p:spPr>
          <a:xfrm>
            <a:off x="3101863" y="0"/>
            <a:ext cx="5988274" cy="6858000"/>
          </a:xfrm>
          <a:prstGeom prst="rect">
            <a:avLst/>
          </a:prstGeom>
        </p:spPr>
      </p:pic>
      <p:pic>
        <p:nvPicPr>
          <p:cNvPr id="26" name="Picture 25">
            <a:extLst>
              <a:ext uri="{FF2B5EF4-FFF2-40B4-BE49-F238E27FC236}">
                <a16:creationId xmlns:a16="http://schemas.microsoft.com/office/drawing/2014/main" id="{9BE64A4F-D4B1-C24F-8B69-08D1C922CA65}"/>
              </a:ext>
            </a:extLst>
          </p:cNvPr>
          <p:cNvPicPr>
            <a:picLocks noChangeAspect="1"/>
          </p:cNvPicPr>
          <p:nvPr/>
        </p:nvPicPr>
        <p:blipFill>
          <a:blip r:embed="rId4"/>
          <a:stretch>
            <a:fillRect/>
          </a:stretch>
        </p:blipFill>
        <p:spPr>
          <a:xfrm>
            <a:off x="150000" y="1614494"/>
            <a:ext cx="12192000" cy="3929012"/>
          </a:xfrm>
          <a:prstGeom prst="rect">
            <a:avLst/>
          </a:prstGeom>
        </p:spPr>
      </p:pic>
      <p:pic>
        <p:nvPicPr>
          <p:cNvPr id="28" name="Picture 27">
            <a:extLst>
              <a:ext uri="{FF2B5EF4-FFF2-40B4-BE49-F238E27FC236}">
                <a16:creationId xmlns:a16="http://schemas.microsoft.com/office/drawing/2014/main" id="{206B4F5F-B065-D145-9143-EEA59383C594}"/>
              </a:ext>
            </a:extLst>
          </p:cNvPr>
          <p:cNvPicPr>
            <a:picLocks noChangeAspect="1"/>
          </p:cNvPicPr>
          <p:nvPr/>
        </p:nvPicPr>
        <p:blipFill>
          <a:blip r:embed="rId5"/>
          <a:stretch>
            <a:fillRect/>
          </a:stretch>
        </p:blipFill>
        <p:spPr>
          <a:xfrm>
            <a:off x="300000" y="1385379"/>
            <a:ext cx="12192000" cy="4687242"/>
          </a:xfrm>
          <a:prstGeom prst="rect">
            <a:avLst/>
          </a:prstGeom>
        </p:spPr>
      </p:pic>
      <p:pic>
        <p:nvPicPr>
          <p:cNvPr id="30" name="Picture 29">
            <a:extLst>
              <a:ext uri="{FF2B5EF4-FFF2-40B4-BE49-F238E27FC236}">
                <a16:creationId xmlns:a16="http://schemas.microsoft.com/office/drawing/2014/main" id="{17800BAE-D0FF-BD49-AC79-CC7F738326CF}"/>
              </a:ext>
            </a:extLst>
          </p:cNvPr>
          <p:cNvPicPr>
            <a:picLocks noChangeAspect="1"/>
          </p:cNvPicPr>
          <p:nvPr/>
        </p:nvPicPr>
        <p:blipFill>
          <a:blip r:embed="rId6"/>
          <a:stretch>
            <a:fillRect/>
          </a:stretch>
        </p:blipFill>
        <p:spPr>
          <a:xfrm>
            <a:off x="450000" y="1914494"/>
            <a:ext cx="12192000" cy="3929012"/>
          </a:xfrm>
          <a:prstGeom prst="rect">
            <a:avLst/>
          </a:prstGeom>
        </p:spPr>
      </p:pic>
      <p:pic>
        <p:nvPicPr>
          <p:cNvPr id="32" name="Picture 31">
            <a:extLst>
              <a:ext uri="{FF2B5EF4-FFF2-40B4-BE49-F238E27FC236}">
                <a16:creationId xmlns:a16="http://schemas.microsoft.com/office/drawing/2014/main" id="{CFA4D3F1-1095-2545-A32D-86F7B12706FB}"/>
              </a:ext>
            </a:extLst>
          </p:cNvPr>
          <p:cNvPicPr>
            <a:picLocks noChangeAspect="1"/>
          </p:cNvPicPr>
          <p:nvPr/>
        </p:nvPicPr>
        <p:blipFill>
          <a:blip r:embed="rId7"/>
          <a:stretch>
            <a:fillRect/>
          </a:stretch>
        </p:blipFill>
        <p:spPr>
          <a:xfrm>
            <a:off x="600000" y="2159273"/>
            <a:ext cx="12192000" cy="3739454"/>
          </a:xfrm>
          <a:prstGeom prst="rect">
            <a:avLst/>
          </a:prstGeom>
        </p:spPr>
      </p:pic>
      <p:pic>
        <p:nvPicPr>
          <p:cNvPr id="34" name="Picture 33">
            <a:extLst>
              <a:ext uri="{FF2B5EF4-FFF2-40B4-BE49-F238E27FC236}">
                <a16:creationId xmlns:a16="http://schemas.microsoft.com/office/drawing/2014/main" id="{FC853E28-DE4A-A340-927B-7087C8AD22BF}"/>
              </a:ext>
            </a:extLst>
          </p:cNvPr>
          <p:cNvPicPr>
            <a:picLocks noChangeAspect="1"/>
          </p:cNvPicPr>
          <p:nvPr/>
        </p:nvPicPr>
        <p:blipFill>
          <a:blip r:embed="rId8"/>
          <a:stretch>
            <a:fillRect/>
          </a:stretch>
        </p:blipFill>
        <p:spPr>
          <a:xfrm>
            <a:off x="750000" y="2214494"/>
            <a:ext cx="12192000" cy="3929012"/>
          </a:xfrm>
          <a:prstGeom prst="rect">
            <a:avLst/>
          </a:prstGeom>
        </p:spPr>
      </p:pic>
      <p:pic>
        <p:nvPicPr>
          <p:cNvPr id="36" name="Picture 35">
            <a:extLst>
              <a:ext uri="{FF2B5EF4-FFF2-40B4-BE49-F238E27FC236}">
                <a16:creationId xmlns:a16="http://schemas.microsoft.com/office/drawing/2014/main" id="{C8097352-7A5C-2748-8EA8-86AB718B7A61}"/>
              </a:ext>
            </a:extLst>
          </p:cNvPr>
          <p:cNvPicPr>
            <a:picLocks noChangeAspect="1"/>
          </p:cNvPicPr>
          <p:nvPr/>
        </p:nvPicPr>
        <p:blipFill>
          <a:blip r:embed="rId9"/>
          <a:stretch>
            <a:fillRect/>
          </a:stretch>
        </p:blipFill>
        <p:spPr>
          <a:xfrm>
            <a:off x="1126185" y="-168636"/>
            <a:ext cx="5719815" cy="6858000"/>
          </a:xfrm>
          <a:prstGeom prst="rect">
            <a:avLst/>
          </a:prstGeom>
        </p:spPr>
      </p:pic>
    </p:spTree>
    <p:extLst>
      <p:ext uri="{BB962C8B-B14F-4D97-AF65-F5344CB8AC3E}">
        <p14:creationId xmlns:p14="http://schemas.microsoft.com/office/powerpoint/2010/main" val="1717510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The DVLA retention pipeline is failing: a compliance issue</a:t>
            </a:r>
            <a:endParaRPr lang="en-US" sz="3000" dirty="0"/>
          </a:p>
        </p:txBody>
      </p:sp>
      <p:sp>
        <p:nvSpPr>
          <p:cNvPr id="3" name="Text 1"/>
          <p:cNvSpPr txBox="1"/>
          <p:nvPr/>
        </p:nvSpPr>
        <p:spPr>
          <a:xfrm>
            <a:off x="548640" y="1325880"/>
            <a:ext cx="11064240" cy="685800"/>
          </a:xfrm>
          <a:prstGeom prst="rect">
            <a:avLst/>
          </a:prstGeom>
          <a:noFill/>
          <a:ln/>
        </p:spPr>
        <p:txBody>
          <a:bodyPr wrap="square" lIns="0" tIns="0" rIns="0" bIns="0" rtlCol="0" anchor="t"/>
          <a:lstStyle/>
          <a:p>
            <a:pPr marL="0" indent="0">
              <a:buNone/>
            </a:pPr>
            <a:r>
              <a:rPr lang="en-US" sz="1600" dirty="0">
                <a:solidFill>
                  <a:schemeClr val="tx1"/>
                </a:solidFill>
              </a:rPr>
              <a:t>A separate safety check: it scans landing and Bronze for unconverted quotes over 60 days old still holding DVLA data. Landing still holds every copy. </a:t>
            </a:r>
            <a:r>
              <a:rPr lang="en-US" sz="1600" b="1" dirty="0">
                <a:solidFill>
                  <a:schemeClr val="tx1"/>
                </a:solidFill>
              </a:rPr>
              <a:t>If two copies of a quote carry exactly the same timestamp, the whole daily run is rejected.</a:t>
            </a:r>
            <a:endParaRPr lang="en-US" sz="1600" dirty="0"/>
          </a:p>
        </p:txBody>
      </p:sp>
      <p:pic>
        <p:nvPicPr>
          <p:cNvPr id="4" name="diagram-dvla" descr="/tmp/claude-0/-home-claude/4680a3a0-0e47-5e9e-b25b-658427346815/scratchpad/audience/3_why_dvla_pipeline_fails_slide.png"/>
          <p:cNvPicPr>
            <a:picLocks noChangeAspect="1"/>
          </p:cNvPicPr>
          <p:nvPr/>
        </p:nvPicPr>
        <p:blipFill>
          <a:blip r:embed="rId3"/>
          <a:stretch>
            <a:fillRect/>
          </a:stretch>
        </p:blipFill>
        <p:spPr>
          <a:xfrm>
            <a:off x="548640" y="2103120"/>
            <a:ext cx="11064240" cy="3358787"/>
          </a:xfrm>
          <a:prstGeom prst="rect">
            <a:avLst/>
          </a:prstGeom>
        </p:spPr>
      </p:pic>
      <p:sp>
        <p:nvSpPr>
          <p:cNvPr id="5" name="Text 2"/>
          <p:cNvSpPr txBox="1"/>
          <p:nvPr/>
        </p:nvSpPr>
        <p:spPr>
          <a:xfrm>
            <a:off x="548640" y="5623560"/>
            <a:ext cx="11064240" cy="411480"/>
          </a:xfrm>
          <a:prstGeom prst="rect">
            <a:avLst/>
          </a:prstGeom>
          <a:noFill/>
          <a:ln/>
        </p:spPr>
        <p:txBody>
          <a:bodyPr wrap="square" lIns="0" tIns="0" rIns="0" bIns="0" rtlCol="0" anchor="ctr"/>
          <a:lstStyle/>
          <a:p>
            <a:pPr marL="0" indent="0">
              <a:buNone/>
            </a:pPr>
            <a:r>
              <a:rPr lang="en-US" sz="1500" b="1" dirty="0">
                <a:solidFill>
                  <a:schemeClr val="accent1"/>
                </a:solidFill>
              </a:rPr>
              <a:t>Fails </a:t>
            </a:r>
            <a:r>
              <a:rPr lang="en-US" sz="1500" dirty="0">
                <a:solidFill>
                  <a:schemeClr val="tx1"/>
                </a:solidFill>
              </a:rPr>
              <a:t>for S4 (historical reload) and S5 (exact resends).  </a:t>
            </a:r>
            <a:r>
              <a:rPr lang="en-US" sz="1500" b="1" dirty="0">
                <a:solidFill>
                  <a:schemeClr val="accent3"/>
                </a:solidFill>
              </a:rPr>
              <a:t>Not impacted </a:t>
            </a:r>
            <a:r>
              <a:rPr lang="en-US" sz="1500" dirty="0">
                <a:solidFill>
                  <a:schemeClr val="tx1"/>
                </a:solidFill>
              </a:rPr>
              <a:t>by S1, S2 and S3: their copies have different timestamps or content.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B879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Good news: reconciliation is not impacted</a:t>
            </a:r>
            <a:endParaRPr lang="en-US" sz="3000" dirty="0"/>
          </a:p>
        </p:txBody>
      </p:sp>
      <p:sp>
        <p:nvSpPr>
          <p:cNvPr id="3" name="recon-card"/>
          <p:cNvSpPr/>
          <p:nvPr/>
        </p:nvSpPr>
        <p:spPr>
          <a:xfrm>
            <a:off x="548640" y="1463040"/>
            <a:ext cx="4206240" cy="4480560"/>
          </a:xfrm>
          <a:prstGeom prst="roundRect">
            <a:avLst>
              <a:gd name="adj" fmla="val 2609"/>
            </a:avLst>
          </a:prstGeom>
          <a:solidFill>
            <a:srgbClr val="E6F4EA"/>
          </a:solidFill>
          <a:ln w="12700">
            <a:solidFill>
              <a:srgbClr val="E6F4EA"/>
            </a:solidFill>
            <a:prstDash val="solid"/>
          </a:ln>
        </p:spPr>
      </p:sp>
      <p:pic>
        <p:nvPicPr>
          <p:cNvPr id="4" name="recon-icon" descr="preencoded.png"/>
          <p:cNvPicPr>
            <a:picLocks noChangeAspect="1"/>
          </p:cNvPicPr>
          <p:nvPr/>
        </p:nvPicPr>
        <p:blipFill>
          <a:blip r:embed="rId3"/>
          <a:stretch>
            <a:fillRect/>
          </a:stretch>
        </p:blipFill>
        <p:spPr>
          <a:xfrm>
            <a:off x="868680" y="1828800"/>
            <a:ext cx="914400" cy="914400"/>
          </a:xfrm>
          <a:prstGeom prst="rect">
            <a:avLst/>
          </a:prstGeom>
        </p:spPr>
      </p:pic>
      <p:sp>
        <p:nvSpPr>
          <p:cNvPr id="5" name="Text 2"/>
          <p:cNvSpPr txBox="1"/>
          <p:nvPr/>
        </p:nvSpPr>
        <p:spPr>
          <a:xfrm>
            <a:off x="868680" y="2971800"/>
            <a:ext cx="3566160" cy="1828800"/>
          </a:xfrm>
          <a:prstGeom prst="rect">
            <a:avLst/>
          </a:prstGeom>
          <a:noFill/>
          <a:ln/>
        </p:spPr>
        <p:txBody>
          <a:bodyPr wrap="square" lIns="0" tIns="0" rIns="0" bIns="0" rtlCol="0" anchor="t"/>
          <a:lstStyle/>
          <a:p>
            <a:pPr marL="0" indent="0">
              <a:buNone/>
            </a:pPr>
            <a:r>
              <a:rPr lang="en-US" sz="2000" b="1" dirty="0">
                <a:solidFill>
                  <a:schemeClr val="tx1"/>
                </a:solidFill>
              </a:rPr>
              <a:t>Reconciliation applies its own duplicate handling and is unaffected by all five scenarios.</a:t>
            </a:r>
            <a:endParaRPr lang="en-US" sz="2000" dirty="0"/>
          </a:p>
        </p:txBody>
      </p:sp>
      <p:sp>
        <p:nvSpPr>
          <p:cNvPr id="6" name="Text 3"/>
          <p:cNvSpPr txBox="1"/>
          <p:nvPr/>
        </p:nvSpPr>
        <p:spPr>
          <a:xfrm>
            <a:off x="5120640" y="1463040"/>
            <a:ext cx="6492240" cy="411480"/>
          </a:xfrm>
          <a:prstGeom prst="rect">
            <a:avLst/>
          </a:prstGeom>
          <a:noFill/>
          <a:ln/>
        </p:spPr>
        <p:txBody>
          <a:bodyPr wrap="square" lIns="0" tIns="0" rIns="0" bIns="0" rtlCol="0" anchor="ctr"/>
          <a:lstStyle/>
          <a:p>
            <a:pPr marL="0" indent="0">
              <a:buNone/>
            </a:pPr>
            <a:r>
              <a:rPr lang="en-US" sz="1800" b="1" dirty="0">
                <a:solidFill>
                  <a:schemeClr val="tx1"/>
                </a:solidFill>
              </a:rPr>
              <a:t>Where we stand on each impact</a:t>
            </a:r>
            <a:endParaRPr lang="en-US" sz="1800" dirty="0"/>
          </a:p>
        </p:txBody>
      </p:sp>
      <p:graphicFrame>
        <p:nvGraphicFramePr>
          <p:cNvPr id="8" name="status-table"/>
          <p:cNvGraphicFramePr>
            <a:graphicFrameLocks noGrp="1"/>
          </p:cNvGraphicFramePr>
          <p:nvPr>
            <p:extLst>
              <p:ext uri="{D42A27DB-BD31-4B8C-83A1-F6EECF244321}">
                <p14:modId xmlns:p14="http://schemas.microsoft.com/office/powerpoint/2010/main" val="1579011935"/>
              </p:ext>
            </p:extLst>
          </p:nvPr>
        </p:nvGraphicFramePr>
        <p:xfrm>
          <a:off x="5120640" y="2011680"/>
          <a:ext cx="6492240" cy="2743200"/>
        </p:xfrm>
        <a:graphic>
          <a:graphicData uri="http://schemas.openxmlformats.org/drawingml/2006/table">
            <a:tbl>
              <a:tblPr/>
              <a:tblGrid>
                <a:gridCol w="44805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457200">
                <a:tc>
                  <a:txBody>
                    <a:bodyPr/>
                    <a:lstStyle/>
                    <a:p>
                      <a:pPr marL="0" indent="0">
                        <a:buNone/>
                      </a:pPr>
                      <a:r>
                        <a:rPr lang="en-US" sz="1400" b="1" dirty="0">
                          <a:solidFill>
                            <a:schemeClr val="bg1"/>
                          </a:solidFill>
                        </a:rPr>
                        <a:t>Impact</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Status</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chemeClr val="tx1"/>
                          </a:solidFill>
                        </a:rPr>
                        <a:t>S2, S3 and S4 duplicates reach Gold</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marL="0" indent="0">
                        <a:buNone/>
                      </a:pPr>
                      <a:r>
                        <a:rPr lang="en-US" sz="1400" b="1" dirty="0">
                          <a:solidFill>
                            <a:schemeClr val="accent1"/>
                          </a:solidFill>
                        </a:rPr>
                        <a:t>Confirmed</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400" dirty="0">
                          <a:solidFill>
                            <a:schemeClr val="tx1"/>
                          </a:solidFill>
                        </a:rPr>
                        <a:t>DVLA pipeline fails (S4, S5)</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marL="0" indent="0">
                        <a:buNone/>
                      </a:pPr>
                      <a:r>
                        <a:rPr lang="en-US" sz="1400" b="1" dirty="0">
                          <a:solidFill>
                            <a:schemeClr val="accent1"/>
                          </a:solidFill>
                        </a:rPr>
                        <a:t>Confirmed</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400" dirty="0">
                          <a:solidFill>
                            <a:schemeClr val="tx1"/>
                          </a:solidFill>
                        </a:rPr>
                        <a:t>DVLA pipeline (S1, S2, S3)</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marL="0" indent="0">
                        <a:buNone/>
                      </a:pPr>
                      <a:r>
                        <a:rPr lang="en-US" sz="1400" b="1" dirty="0">
                          <a:solidFill>
                            <a:schemeClr val="accent3"/>
                          </a:solidFill>
                        </a:rPr>
                        <a:t>Not impacted</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400" dirty="0">
                          <a:solidFill>
                            <a:schemeClr val="tx1"/>
                          </a:solidFill>
                        </a:rPr>
                        <a:t>Pricing ART views show duplicates</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marL="0" indent="0">
                        <a:buNone/>
                      </a:pPr>
                      <a:r>
                        <a:rPr lang="en-US" sz="1400" b="1" dirty="0">
                          <a:solidFill>
                            <a:schemeClr val="accent4"/>
                          </a:solidFill>
                        </a:rPr>
                        <a:t>Being checked</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400" dirty="0">
                          <a:solidFill>
                            <a:schemeClr val="tx1"/>
                          </a:solidFill>
                        </a:rPr>
                        <a:t>Reconciliation</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marL="0" indent="0">
                        <a:buNone/>
                      </a:pPr>
                      <a:r>
                        <a:rPr lang="en-US" sz="1400" b="1" dirty="0">
                          <a:solidFill>
                            <a:schemeClr val="accent3"/>
                          </a:solidFill>
                        </a:rPr>
                        <a:t>Not impacted</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txBox="1"/>
          <p:nvPr/>
        </p:nvSpPr>
        <p:spPr>
          <a:xfrm>
            <a:off x="5120640" y="5440680"/>
            <a:ext cx="6492240" cy="457200"/>
          </a:xfrm>
          <a:prstGeom prst="rect">
            <a:avLst/>
          </a:prstGeom>
          <a:noFill/>
          <a:ln/>
        </p:spPr>
        <p:txBody>
          <a:bodyPr wrap="square" lIns="0" tIns="0" rIns="0" bIns="0" rtlCol="0" anchor="ctr"/>
          <a:lstStyle/>
          <a:p>
            <a:pPr marL="0" indent="0">
              <a:buNone/>
            </a:pPr>
            <a:r>
              <a:rPr lang="en-US" sz="1100" i="1" dirty="0">
                <a:solidFill>
                  <a:srgbClr val="52606D"/>
                </a:solidFill>
              </a:rPr>
              <a:t>Confirmed = seen in production data or confirmed by the team. Being checked = from analysis, not yet reproduced.</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B879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What we need from you</a:t>
            </a:r>
            <a:endParaRPr lang="en-US" sz="3000" dirty="0"/>
          </a:p>
        </p:txBody>
      </p:sp>
      <p:graphicFrame>
        <p:nvGraphicFramePr>
          <p:cNvPr id="9" name="asks-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4389120"/>
        </p:xfrm>
        <a:graphic>
          <a:graphicData uri="http://schemas.openxmlformats.org/drawingml/2006/table">
            <a:tbl>
              <a:tblPr/>
              <a:tblGrid>
                <a:gridCol w="63093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rPr>
                        <a:t>Ask</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Owner</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Why</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48640">
                <a:tc>
                  <a:txBody>
                    <a:bodyPr/>
                    <a:lstStyle/>
                    <a:p>
                      <a:pPr marL="0" indent="0">
                        <a:buNone/>
                      </a:pPr>
                      <a:r>
                        <a:rPr lang="en-US" sz="1400" b="1" dirty="0">
                          <a:solidFill>
                            <a:schemeClr val="tx1"/>
                          </a:solidFill>
                        </a:rPr>
                        <a:t>Prioritise restoring the DVLA retention pipeline, including a catch-up of the days it has failed</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marL="0" indent="0">
                        <a:buNone/>
                      </a:pPr>
                      <a:r>
                        <a:rPr lang="en-US" sz="1400" dirty="0">
                          <a:solidFill>
                            <a:schemeClr val="tx1"/>
                          </a:solidFill>
                        </a:rPr>
                        <a:t>Leadership + BICoE</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marL="0" indent="0">
                        <a:buNone/>
                      </a:pPr>
                      <a:r>
                        <a:rPr lang="en-US" sz="1400" b="1" dirty="0">
                          <a:solidFill>
                            <a:schemeClr val="accent1"/>
                          </a:solidFill>
                        </a:rPr>
                        <a:t>Compliance</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400" dirty="0">
                          <a:solidFill>
                            <a:schemeClr val="tx1"/>
                          </a:solidFill>
                        </a:rPr>
                        <a:t>Explain why messages are resent, including resends at about 02:00 UTC each day</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marL="0" indent="0">
                        <a:buNone/>
                      </a:pPr>
                      <a:r>
                        <a:rPr lang="en-US" sz="1400" dirty="0">
                          <a:solidFill>
                            <a:schemeClr val="tx1"/>
                          </a:solidFill>
                        </a:rPr>
                        <a:t>MQS</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marL="0" indent="0">
                        <a:buNone/>
                      </a:pPr>
                      <a:r>
                        <a:rPr lang="en-US" sz="1400" dirty="0">
                          <a:solidFill>
                            <a:schemeClr val="tx1"/>
                          </a:solidFill>
                        </a:rPr>
                        <a:t>Root cause of S1, S2, S5</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400" dirty="0">
                          <a:solidFill>
                            <a:schemeClr val="tx1"/>
                          </a:solidFill>
                        </a:rPr>
                        <a:t>Confirm which quote-step value is correct when versions conflict</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marL="0" indent="0">
                        <a:buNone/>
                      </a:pPr>
                      <a:r>
                        <a:rPr lang="en-US" sz="1400" dirty="0">
                          <a:solidFill>
                            <a:schemeClr val="tx1"/>
                          </a:solidFill>
                        </a:rPr>
                        <a:t>MQS</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marL="0" indent="0">
                        <a:buNone/>
                      </a:pPr>
                      <a:r>
                        <a:rPr lang="en-US" sz="1400" dirty="0">
                          <a:solidFill>
                            <a:schemeClr val="tx1"/>
                          </a:solidFill>
                        </a:rPr>
                        <a:t>Needed before S3 clean-up</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400" dirty="0">
                          <a:solidFill>
                            <a:schemeClr val="tx1"/>
                          </a:solidFill>
                        </a:rPr>
                        <a:t>Agree what makes “one quote event” unique</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marL="0" indent="0">
                        <a:buNone/>
                      </a:pPr>
                      <a:r>
                        <a:rPr lang="en-US" sz="1400" dirty="0">
                          <a:solidFill>
                            <a:schemeClr val="tx1"/>
                          </a:solidFill>
                        </a:rPr>
                        <a:t>MQS + BICoE Architecture</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marL="0" indent="0">
                        <a:buNone/>
                      </a:pPr>
                      <a:r>
                        <a:rPr lang="en-US" sz="1400" dirty="0">
                          <a:solidFill>
                            <a:schemeClr val="tx1"/>
                          </a:solidFill>
                        </a:rPr>
                        <a:t>Basis for a permanent fix</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buNone/>
                      </a:pPr>
                      <a:r>
                        <a:rPr lang="en-US" sz="1400" dirty="0">
                          <a:solidFill>
                            <a:schemeClr val="tx1"/>
                          </a:solidFill>
                        </a:rPr>
                        <a:t>Size the S2, S3 and S4 duplicates already in Gold</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marL="0" indent="0">
                        <a:buNone/>
                      </a:pPr>
                      <a:r>
                        <a:rPr lang="en-US" sz="1400" dirty="0">
                          <a:solidFill>
                            <a:schemeClr val="tx1"/>
                          </a:solidFill>
                        </a:rPr>
                        <a:t>Glenn / Gold owner</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marL="0" indent="0">
                        <a:buNone/>
                      </a:pPr>
                      <a:r>
                        <a:rPr lang="en-US" sz="1400" dirty="0">
                          <a:solidFill>
                            <a:schemeClr val="tx1"/>
                          </a:solidFill>
                        </a:rPr>
                        <a:t>Plan the Gold clean-up</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extLst>
                  <a:ext uri="{0D108BD9-81ED-4DB2-BD59-A6C34878D82A}">
                    <a16:rowId xmlns:a16="http://schemas.microsoft.com/office/drawing/2014/main" val="10005"/>
                  </a:ext>
                </a:extLst>
              </a:tr>
              <a:tr h="548640">
                <a:tc>
                  <a:txBody>
                    <a:bodyPr/>
                    <a:lstStyle/>
                    <a:p>
                      <a:pPr marL="0" indent="0">
                        <a:buNone/>
                      </a:pPr>
                      <a:r>
                        <a:rPr lang="en-US" sz="1400" dirty="0">
                          <a:solidFill>
                            <a:schemeClr val="tx1"/>
                          </a:solidFill>
                        </a:rPr>
                        <a:t>Confirm whether Pricing ART views show duplicates</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marL="0" indent="0">
                        <a:buNone/>
                      </a:pPr>
                      <a:r>
                        <a:rPr lang="en-US" sz="1400" dirty="0">
                          <a:solidFill>
                            <a:schemeClr val="tx1"/>
                          </a:solidFill>
                        </a:rPr>
                        <a:t>Pricing ART</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marL="0" indent="0">
                        <a:buNone/>
                      </a:pPr>
                      <a:r>
                        <a:rPr lang="en-US" sz="1400" dirty="0">
                          <a:solidFill>
                            <a:schemeClr val="tx1"/>
                          </a:solidFill>
                        </a:rPr>
                        <a:t>Close consumer impact</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extLst>
                  <a:ext uri="{0D108BD9-81ED-4DB2-BD59-A6C34878D82A}">
                    <a16:rowId xmlns:a16="http://schemas.microsoft.com/office/drawing/2014/main" val="10006"/>
                  </a:ext>
                </a:extLst>
              </a:tr>
              <a:tr h="548640">
                <a:tc>
                  <a:txBody>
                    <a:bodyPr/>
                    <a:lstStyle/>
                    <a:p>
                      <a:pPr marL="0" indent="0">
                        <a:buNone/>
                      </a:pPr>
                      <a:r>
                        <a:rPr lang="en-US" sz="1400" dirty="0">
                          <a:solidFill>
                            <a:schemeClr val="tx1"/>
                          </a:solidFill>
                        </a:rPr>
                        <a:t>Confirm which DVLA runs failed and which quotes were in them</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marL="0" indent="0">
                        <a:buNone/>
                      </a:pPr>
                      <a:r>
                        <a:rPr lang="en-US" sz="1400" dirty="0">
                          <a:solidFill>
                            <a:schemeClr val="tx1"/>
                          </a:solidFill>
                        </a:rPr>
                        <a:t>DVLA owner</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marL="0" indent="0">
                        <a:buNone/>
                      </a:pPr>
                      <a:r>
                        <a:rPr lang="en-US" sz="1400" dirty="0">
                          <a:solidFill>
                            <a:schemeClr val="tx1"/>
                          </a:solidFill>
                        </a:rPr>
                        <a:t>Size the compliance gap</a:t>
                      </a:r>
                      <a:endParaRPr lang="en-US" sz="1400" dirty="0"/>
                    </a:p>
                  </a:txBody>
                  <a:tcPr marL="109728" marR="109728"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B879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B8794"/>
                </a:solidFill>
              </a:defRPr>
            </a:lvl1pPr>
          </a:lstStyle>
          <a:p>
            <a:pPr algn="r"/>
            <a:fld id="{F7021451-1387-4CA6-816F-3879F97B5CBC}" type="slidenum">
              <a:rPr lang="en-US" b="0"/>
              <a:t>10</a:t>
            </a:fld>
            <a:endParaRPr lang="en-US"/>
          </a:p>
        </p:txBody>
      </p:sp>
      <p:sp>
        <p:nvSpPr>
          <p:cNvPr id="4" name="Title 3">
            <a:extLst>
              <a:ext uri="{FF2B5EF4-FFF2-40B4-BE49-F238E27FC236}">
                <a16:creationId xmlns:a16="http://schemas.microsoft.com/office/drawing/2014/main" id="{14C42D53-2B7A-2848-A1ED-9BD5FFC72635}"/>
              </a:ext>
            </a:extLst>
          </p:cNvPr>
          <p:cNvSpPr>
            <a:spLocks noGrp="1"/>
          </p:cNvSpPr>
          <p:nvPr>
            <p:ph type="title" idx="100"/>
          </p:nvPr>
        </p:nvSpPr>
        <p:spPr/>
        <p:txBody>
          <a:bodyPr/>
          <a:lstStyle/>
          <a:p>
            <a:endParaRPr lang="en-US"/>
          </a:p>
        </p:txBody>
      </p:sp>
    </p:spTree>
    <p:extLst>
      <p:ext uri="{BB962C8B-B14F-4D97-AF65-F5344CB8AC3E}">
        <p14:creationId xmlns:p14="http://schemas.microsoft.com/office/powerpoint/2010/main" val="1427826283"/>
      </p:ext>
    </p:extLst>
  </p:cSld>
  <p:clrMapOvr>
    <a:masterClrMapping/>
  </p:clrMapOvr>
</p:sld>
</file>

<file path=ppt/theme/theme1.xml><?xml version="1.0" encoding="utf-8"?>
<a:theme xmlns:a="http://schemas.openxmlformats.org/drawingml/2006/main" name="BICoE Duplicates">
  <a:themeElements>
    <a:clrScheme name="BICoE Duplicates">
      <a:dk1>
        <a:srgbClr val="1F2933"/>
      </a:dk1>
      <a:lt1>
        <a:srgbClr val="FFFFFF"/>
      </a:lt1>
      <a:dk2>
        <a:srgbClr val="1C2B3A"/>
      </a:dk2>
      <a:lt2>
        <a:srgbClr val="F4F5F7"/>
      </a:lt2>
      <a:accent1>
        <a:srgbClr val="C0392B"/>
      </a:accent1>
      <a:accent2>
        <a:srgbClr val="2D6CDF"/>
      </a:accent2>
      <a:accent3>
        <a:srgbClr val="1E8E3E"/>
      </a:accent3>
      <a:accent4>
        <a:srgbClr val="B7791F"/>
      </a:accent4>
      <a:accent5>
        <a:srgbClr val="7B8794"/>
      </a:accent5>
      <a:accent6>
        <a:srgbClr val="52606D"/>
      </a:accent6>
      <a:hlink>
        <a:srgbClr val="2D6CDF"/>
      </a:hlink>
      <a:folHlink>
        <a:srgbClr val="52606D"/>
      </a:folHlink>
    </a:clrScheme>
    <a:fontScheme name="BICoE Duplicat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1161</Words>
  <Application>Microsoft Macintosh PowerPoint</Application>
  <PresentationFormat>Widescreen</PresentationFormat>
  <Paragraphs>108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BICoE Duplicates</vt:lpstr>
      <vt:lpstr>MQS duplicate data: impact on BICoE</vt:lpstr>
      <vt:lpstr>Three things to know</vt:lpstr>
      <vt:lpstr>Every copy lands; our dedup only filters on the way to Bronze</vt:lpstr>
      <vt:lpstr>Five duplicate scenarios: dedup stops only two</vt:lpstr>
      <vt:lpstr>One quote resent on later days became three rows in Gold</vt:lpstr>
      <vt:lpstr>PowerPoint Presentation</vt:lpstr>
      <vt:lpstr>The DVLA retention pipeline is failing: a compliance issue</vt:lpstr>
      <vt:lpstr>Good news: reconciliation is not impacted</vt:lpstr>
      <vt:lpstr>What we need from you</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MQS duplicate data: impact on BICoE</dc:title>
  <dc:subject>PptxGenJS Presentation</dc:subject>
  <dc:creator>PptxGenJS</dc:creator>
  <cp:lastModifiedBy>Microsoft Office User</cp:lastModifiedBy>
  <cp:revision>3</cp:revision>
  <dcterms:created xsi:type="dcterms:W3CDTF">2026-10-08T23:03:09Z</dcterms:created>
  <dcterms:modified xsi:type="dcterms:W3CDTF">2026-10-08T23:23:20Z</dcterms:modified>
</cp:coreProperties>
</file>