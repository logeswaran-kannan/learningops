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0"/>
    <p:restoredTop sz="95970"/>
  </p:normalViewPr>
  <p:slideViewPr>
    <p:cSldViewPr snapToGrid="0" snapToObjects="1">
      <p:cViewPr varScale="1">
        <p:scale>
          <a:sx n="110" d="100"/>
          <a:sy n="110" d="100"/>
        </p:scale>
        <p:origin x="632" y="-38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5B0C0-9D8F-6A43-9A23-3D9AEC37DA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E31C39D-6AC1-4245-9E37-322E936AE00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4E10BD-43A0-9047-B0A0-DB11D034840E}"/>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5" name="Footer Placeholder 4">
            <a:extLst>
              <a:ext uri="{FF2B5EF4-FFF2-40B4-BE49-F238E27FC236}">
                <a16:creationId xmlns:a16="http://schemas.microsoft.com/office/drawing/2014/main" id="{F6BAA35D-6756-E043-933E-6D4269EA50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3FE08B-4248-F843-9360-2653A9CD4907}"/>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3666656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C67EF-F0AB-C44A-BDEE-20C31791B7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E8AACE5-E614-D04D-B372-EE1CA5A5F4C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1FEAB6-5EA3-484A-A07F-B25B7FB4032C}"/>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5" name="Footer Placeholder 4">
            <a:extLst>
              <a:ext uri="{FF2B5EF4-FFF2-40B4-BE49-F238E27FC236}">
                <a16:creationId xmlns:a16="http://schemas.microsoft.com/office/drawing/2014/main" id="{B8BF17F2-2E4E-5B42-B76C-7E691E6B7B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6CAF88-68D2-0148-A679-4E4F1E0495BE}"/>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42803077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09C7F-7756-2D47-952B-2D573BB550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67CE35E-8519-4744-A1B2-0CBF6E98DC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F914C80D-A85C-FE49-A1B7-803FF94ECAC1}"/>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5" name="Footer Placeholder 4">
            <a:extLst>
              <a:ext uri="{FF2B5EF4-FFF2-40B4-BE49-F238E27FC236}">
                <a16:creationId xmlns:a16="http://schemas.microsoft.com/office/drawing/2014/main" id="{CAAD6237-37F7-2C44-8C19-1FE98ADE7C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DC5A83-5231-C442-B3DC-F5C60EC35B70}"/>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2967806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4F7D7-8C62-3E48-A198-1237C372D2A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924B05-271B-4A4E-AF62-EAA3A7529B07}"/>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7106400-FC16-5A46-AA4E-1A3917101072}"/>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197FB0-71F7-EC44-AB98-FCAD99A8BBB5}"/>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6" name="Footer Placeholder 5">
            <a:extLst>
              <a:ext uri="{FF2B5EF4-FFF2-40B4-BE49-F238E27FC236}">
                <a16:creationId xmlns:a16="http://schemas.microsoft.com/office/drawing/2014/main" id="{739B7437-F4C5-594E-A7A7-D7576DEB28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5B3A2A-4627-2946-A294-AF2922E04B9E}"/>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3901219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23C3D-AEC3-4248-A954-CA1B76E65BA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63E963C-8445-9547-B0D9-2ACAB7ECB6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BC2A358-A7D7-BD4F-AB3E-675051DAC564}"/>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1B94C3-E91E-CE4E-AB19-829A72EBEE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4FE4C911-C809-084E-8949-B35E65C16F2D}"/>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E936516-DEA2-2343-BA77-5976288A51CE}"/>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8" name="Footer Placeholder 7">
            <a:extLst>
              <a:ext uri="{FF2B5EF4-FFF2-40B4-BE49-F238E27FC236}">
                <a16:creationId xmlns:a16="http://schemas.microsoft.com/office/drawing/2014/main" id="{C7CD252C-BF55-694C-A505-F9662DF498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12BDDA-734C-B24E-A4D9-BCFEB5B41132}"/>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8338177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87F42-EF6F-C645-B7FB-E82034A8908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35C0A83-E572-AB4C-A6E5-B7DD4DC13FD2}"/>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4" name="Footer Placeholder 3">
            <a:extLst>
              <a:ext uri="{FF2B5EF4-FFF2-40B4-BE49-F238E27FC236}">
                <a16:creationId xmlns:a16="http://schemas.microsoft.com/office/drawing/2014/main" id="{B5DD5D2D-ECDC-5840-B995-754E29FE93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2F9D793-3FD3-5640-92C2-422C6B9BB43B}"/>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10764195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AD02DC-FE24-EB47-B399-C419CDE4CD15}"/>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3" name="Footer Placeholder 2">
            <a:extLst>
              <a:ext uri="{FF2B5EF4-FFF2-40B4-BE49-F238E27FC236}">
                <a16:creationId xmlns:a16="http://schemas.microsoft.com/office/drawing/2014/main" id="{057F90AD-AB3C-5D42-B637-2659CC63FB8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DE44CA7-90B9-6941-92B0-F26E73F81728}"/>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35578624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2867B-4145-A646-81D2-9593E76BB9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7BEBBCE-EE8C-6D47-AE94-D4C65152520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4ED54C7-CBBD-A14E-AE02-E9153F0CDF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D0296C6E-BF0D-754A-9E43-B77F079CB06F}"/>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6" name="Footer Placeholder 5">
            <a:extLst>
              <a:ext uri="{FF2B5EF4-FFF2-40B4-BE49-F238E27FC236}">
                <a16:creationId xmlns:a16="http://schemas.microsoft.com/office/drawing/2014/main" id="{0AE5598D-5CDA-AC46-84F0-324976352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B3CAA2-E6FF-174B-BE5A-B88D5251575F}"/>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14103552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419D8-278C-9248-8765-2B9EECE243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7B86A8-7B80-5E4C-8BE8-7451BADDC4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FB5591-9DA1-F44F-ABBF-5F2266A003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924B4E9-11CB-6843-8A0D-E4B7F3A59C00}"/>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6" name="Footer Placeholder 5">
            <a:extLst>
              <a:ext uri="{FF2B5EF4-FFF2-40B4-BE49-F238E27FC236}">
                <a16:creationId xmlns:a16="http://schemas.microsoft.com/office/drawing/2014/main" id="{C2AF9082-C080-A440-9AD0-FC12008357E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0E8BF83-D928-2D4D-B105-D3CAE701318F}"/>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2046784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ED5C-938D-DE48-AAC5-0A9155422A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1D9F7D5-51FB-C845-AD6C-D26FD275957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BFE884-A618-A94E-B69B-51FFF30BCFF0}"/>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5" name="Footer Placeholder 4">
            <a:extLst>
              <a:ext uri="{FF2B5EF4-FFF2-40B4-BE49-F238E27FC236}">
                <a16:creationId xmlns:a16="http://schemas.microsoft.com/office/drawing/2014/main" id="{AFC948C4-06B8-DD4C-B11B-5E153B805E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649A0-13A0-E44D-A67D-5531EC14A30F}"/>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3769736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2FC8B0-223C-E548-8682-B30579E202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29408C2-5786-494C-8A4E-F44CEC64076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741EB8-55A3-CE44-8B1F-50BDB55FE569}"/>
              </a:ext>
            </a:extLst>
          </p:cNvPr>
          <p:cNvSpPr>
            <a:spLocks noGrp="1"/>
          </p:cNvSpPr>
          <p:nvPr>
            <p:ph type="dt" sz="half" idx="10"/>
          </p:nvPr>
        </p:nvSpPr>
        <p:spPr/>
        <p:txBody>
          <a:bodyPr/>
          <a:lstStyle/>
          <a:p>
            <a:fld id="{D8EAEDC4-C82E-734C-8F33-635F83DB93DF}" type="datetimeFigureOut">
              <a:rPr lang="en-US" smtClean="0"/>
              <a:t>10/9/26</a:t>
            </a:fld>
            <a:endParaRPr lang="en-US"/>
          </a:p>
        </p:txBody>
      </p:sp>
      <p:sp>
        <p:nvSpPr>
          <p:cNvPr id="5" name="Footer Placeholder 4">
            <a:extLst>
              <a:ext uri="{FF2B5EF4-FFF2-40B4-BE49-F238E27FC236}">
                <a16:creationId xmlns:a16="http://schemas.microsoft.com/office/drawing/2014/main" id="{9A7DB761-812A-464D-A285-FD7BF5FB38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1A99E9-BDEC-8A4F-8E2D-B4B33A325A3B}"/>
              </a:ext>
            </a:extLst>
          </p:cNvPr>
          <p:cNvSpPr>
            <a:spLocks noGrp="1"/>
          </p:cNvSpPr>
          <p:nvPr>
            <p:ph type="sldNum" sz="quarter" idx="12"/>
          </p:nvPr>
        </p:nvSpPr>
        <p:spPr/>
        <p:txBody>
          <a:bodyPr/>
          <a:lstStyle/>
          <a:p>
            <a:fld id="{912B53E5-CECA-E545-A366-61ABCCCDB593}" type="slidenum">
              <a:rPr lang="en-US" smtClean="0"/>
              <a:t>‹#›</a:t>
            </a:fld>
            <a:endParaRPr lang="en-US"/>
          </a:p>
        </p:txBody>
      </p:sp>
    </p:spTree>
    <p:extLst>
      <p:ext uri="{BB962C8B-B14F-4D97-AF65-F5344CB8AC3E}">
        <p14:creationId xmlns:p14="http://schemas.microsoft.com/office/powerpoint/2010/main" val="3618822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790CD9-BE5D-D94C-9850-6909BEE4645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C54E3E1-CF14-E142-A3DD-7DF44B794D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EB895E-0079-C147-A375-F1527E6A0D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EAEDC4-C82E-734C-8F33-635F83DB93DF}" type="datetimeFigureOut">
              <a:rPr lang="en-US" smtClean="0"/>
              <a:t>10/9/26</a:t>
            </a:fld>
            <a:endParaRPr lang="en-US"/>
          </a:p>
        </p:txBody>
      </p:sp>
      <p:sp>
        <p:nvSpPr>
          <p:cNvPr id="5" name="Footer Placeholder 4">
            <a:extLst>
              <a:ext uri="{FF2B5EF4-FFF2-40B4-BE49-F238E27FC236}">
                <a16:creationId xmlns:a16="http://schemas.microsoft.com/office/drawing/2014/main" id="{61E62D2D-A850-BB4E-B6D7-2795E6637C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A8C1E0E-0774-8847-94F5-583F82BCE8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2B53E5-CECA-E545-A366-61ABCCCDB593}" type="slidenum">
              <a:rPr lang="en-US" smtClean="0"/>
              <a:t>‹#›</a:t>
            </a:fld>
            <a:endParaRPr lang="en-US"/>
          </a:p>
        </p:txBody>
      </p:sp>
    </p:spTree>
    <p:extLst>
      <p:ext uri="{BB962C8B-B14F-4D97-AF65-F5344CB8AC3E}">
        <p14:creationId xmlns:p14="http://schemas.microsoft.com/office/powerpoint/2010/main" val="17246172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B27143E-A1B2-D84A-B7CC-658534640C58}"/>
              </a:ext>
            </a:extLst>
          </p:cNvPr>
          <p:cNvSpPr/>
          <p:nvPr/>
        </p:nvSpPr>
        <p:spPr>
          <a:xfrm>
            <a:off x="3048000" y="-5758130"/>
            <a:ext cx="6096000" cy="18374261"/>
          </a:xfrm>
          <a:prstGeom prst="rect">
            <a:avLst/>
          </a:prstGeom>
        </p:spPr>
        <p:txBody>
          <a:bodyPr>
            <a:spAutoFit/>
          </a:bodyPr>
          <a:lstStyle/>
          <a:p>
            <a:r>
              <a:rPr lang="en-GB" dirty="0"/>
              <a:t>Hi Team,</a:t>
            </a:r>
          </a:p>
          <a:p>
            <a:r>
              <a:rPr lang="en-GB" dirty="0"/>
              <a:t>Below are the activities we need to work through to agree the reconciliation testing approach for CDA vs Read Replica.</a:t>
            </a:r>
          </a:p>
          <a:p>
            <a:r>
              <a:rPr lang="en-GB" b="1" dirty="0"/>
              <a:t>1. Manual Testing</a:t>
            </a:r>
            <a:endParaRPr lang="en-GB" dirty="0"/>
          </a:p>
          <a:p>
            <a:pPr>
              <a:buFont typeface="+mj-lt"/>
              <a:buAutoNum type="arabicPeriod"/>
            </a:pPr>
            <a:r>
              <a:rPr lang="en-GB" b="1" dirty="0"/>
              <a:t>Scope confirmation:</a:t>
            </a:r>
            <a:r>
              <a:rPr lang="en-GB" dirty="0"/>
              <a:t> So far, we have identified 59 tables/views from PC and BC. Stefan to follow up with Simon on the CC scope. Once confirmed, we need to review internally whether the selected tables provide sufficient coverage.</a:t>
            </a:r>
          </a:p>
          <a:p>
            <a:pPr>
              <a:buFont typeface="+mj-lt"/>
              <a:buAutoNum type="arabicPeriod"/>
            </a:pPr>
            <a:r>
              <a:rPr lang="en-GB" b="1" dirty="0"/>
              <a:t>Insert views and downstream usage:</a:t>
            </a:r>
            <a:r>
              <a:rPr lang="en-GB" dirty="0"/>
              <a:t> For the identified insert views that do not have corresponding Silver tables, we need to check when they were last used. Based on the findings, we will discuss with Trevor, Glenn, Phil and the wider CDA team to understand whether these are still used by any downstream processes or reporting.</a:t>
            </a:r>
          </a:p>
          <a:p>
            <a:pPr>
              <a:buFont typeface="+mj-lt"/>
              <a:buAutoNum type="arabicPeriod"/>
            </a:pPr>
            <a:r>
              <a:rPr lang="en-GB" b="1" dirty="0"/>
              <a:t>Test scenarios:</a:t>
            </a:r>
            <a:r>
              <a:rPr lang="en-GB" dirty="0"/>
              <a:t> Identify the key business scenarios for the selected tables, including inserts, updates, hard deletes and same day insert/delete transactions. We also need to discuss whether historical data validation should be included.</a:t>
            </a:r>
          </a:p>
          <a:p>
            <a:pPr>
              <a:buFont typeface="+mj-lt"/>
              <a:buAutoNum type="arabicPeriod"/>
            </a:pPr>
            <a:r>
              <a:rPr lang="en-GB" b="1" dirty="0"/>
              <a:t>Rollback testing:</a:t>
            </a:r>
            <a:r>
              <a:rPr lang="en-GB" dirty="0"/>
              <a:t> Understand and agree the rollback mechanism with the development team. Based on this, identify the scenarios we need to cover, including data consistency, recovery and any downstream impact following rollback.</a:t>
            </a:r>
          </a:p>
          <a:p>
            <a:pPr>
              <a:buFont typeface="+mj-lt"/>
              <a:buAutoNum type="arabicPeriod"/>
            </a:pPr>
            <a:r>
              <a:rPr lang="en-GB" b="1" dirty="0"/>
              <a:t>Test data and review:</a:t>
            </a:r>
            <a:r>
              <a:rPr lang="en-GB" dirty="0"/>
              <a:t> Review the proposed scenarios internally and identify suitable production records for validation between CDA and Read Replica.</a:t>
            </a:r>
          </a:p>
          <a:p>
            <a:r>
              <a:rPr lang="en-GB" b="1" dirty="0"/>
              <a:t>2. Automation Testing</a:t>
            </a:r>
            <a:endParaRPr lang="en-GB" dirty="0"/>
          </a:p>
          <a:p>
            <a:pPr>
              <a:buFont typeface="+mj-lt"/>
              <a:buAutoNum type="arabicPeriod"/>
            </a:pPr>
            <a:r>
              <a:rPr lang="en-GB" b="1" dirty="0"/>
              <a:t>Volume assessment:</a:t>
            </a:r>
            <a:r>
              <a:rPr lang="en-GB" dirty="0"/>
              <a:t> For the 178 identified tables/views, capture the average data volumes over the last five days. We should also consider peak processing days to understand the potential impact on execution time.</a:t>
            </a:r>
          </a:p>
          <a:p>
            <a:pPr>
              <a:buFont typeface="+mj-lt"/>
              <a:buAutoNum type="arabicPeriod"/>
            </a:pPr>
            <a:r>
              <a:rPr lang="en-GB" b="1" dirty="0"/>
              <a:t>Benchmarking:</a:t>
            </a:r>
            <a:r>
              <a:rPr lang="en-GB" dirty="0"/>
              <a:t> Run count, data format and detailed data comparisons on a sample of tables with different data volumes. Capture the time taken and compute requirements to understand how the framework performs.</a:t>
            </a:r>
          </a:p>
          <a:p>
            <a:pPr>
              <a:buFont typeface="+mj-lt"/>
              <a:buAutoNum type="arabicPeriod"/>
            </a:pPr>
            <a:r>
              <a:rPr lang="en-GB" b="1" dirty="0"/>
              <a:t>Automation coverage:</a:t>
            </a:r>
            <a:r>
              <a:rPr lang="en-GB" dirty="0"/>
              <a:t> Based on the benchmark results, assess how many tables we can realistically cover in an automation run. We also need to discuss whether full or incremental comparisons would be more practical for high volume tables.</a:t>
            </a:r>
          </a:p>
          <a:p>
            <a:pPr>
              <a:buFont typeface="+mj-lt"/>
              <a:buAutoNum type="arabicPeriod"/>
            </a:pPr>
            <a:r>
              <a:rPr lang="en-GB" b="1" dirty="0"/>
              <a:t>Framework effort:</a:t>
            </a:r>
            <a:r>
              <a:rPr lang="en-GB" dirty="0"/>
              <a:t> Identify any changes required to the existing automation framework and estimate the effort involved.</a:t>
            </a:r>
          </a:p>
          <a:p>
            <a:pPr>
              <a:buFont typeface="+mj-lt"/>
              <a:buAutoNum type="arabicPeriod"/>
            </a:pPr>
            <a:r>
              <a:rPr lang="en-GB" b="1" dirty="0"/>
              <a:t>Acceptance criteria:</a:t>
            </a:r>
            <a:r>
              <a:rPr lang="en-GB" dirty="0"/>
              <a:t> Discuss and agree how count differences, data mismatches and known exceptions should be handled.</a:t>
            </a:r>
          </a:p>
          <a:p>
            <a:r>
              <a:rPr lang="en-GB" b="1" dirty="0"/>
              <a:t>3. Points to Clarify with Development</a:t>
            </a:r>
            <a:endParaRPr lang="en-GB" dirty="0"/>
          </a:p>
          <a:p>
            <a:pPr>
              <a:buFont typeface="+mj-lt"/>
              <a:buAutoNum type="arabicPeriod"/>
            </a:pPr>
            <a:r>
              <a:rPr lang="en-GB" dirty="0"/>
              <a:t>Confirm the appropriate comparison points between RR and CDA, particularly for ODS views, insert views and Silver tables.</a:t>
            </a:r>
          </a:p>
          <a:p>
            <a:pPr>
              <a:buFont typeface="+mj-lt"/>
              <a:buAutoNum type="arabicPeriod"/>
            </a:pPr>
            <a:r>
              <a:rPr lang="en-GB" dirty="0"/>
              <a:t>Agree whether we need to compare current records only or historical changes as well.</a:t>
            </a:r>
          </a:p>
          <a:p>
            <a:pPr>
              <a:buFont typeface="+mj-lt"/>
              <a:buAutoNum type="arabicPeriod"/>
            </a:pPr>
            <a:r>
              <a:rPr lang="en-GB" dirty="0"/>
              <a:t>Understand how we can align the data between both flows, considering ingestion delays and daily load timings.</a:t>
            </a:r>
          </a:p>
          <a:p>
            <a:pPr>
              <a:buFont typeface="+mj-lt"/>
              <a:buAutoNum type="arabicPeriod"/>
            </a:pPr>
            <a:r>
              <a:rPr lang="en-GB" dirty="0"/>
              <a:t>Confirm the expected CDC behaviour and how known differences between RR and CDA should be treated during reconciliation.</a:t>
            </a:r>
          </a:p>
          <a:p>
            <a:pPr>
              <a:buFont typeface="+mj-lt"/>
              <a:buAutoNum type="arabicPeriod"/>
            </a:pPr>
            <a:r>
              <a:rPr lang="en-GB" dirty="0"/>
              <a:t>Clarify the rollback approach and what needs to be validated as part of switch over testing.</a:t>
            </a:r>
          </a:p>
          <a:p>
            <a:r>
              <a:rPr lang="en-GB" b="1" dirty="0"/>
              <a:t>4. Next Steps</a:t>
            </a:r>
            <a:endParaRPr lang="en-GB" dirty="0"/>
          </a:p>
          <a:p>
            <a:r>
              <a:rPr lang="en-GB" dirty="0"/>
              <a:t>Once we have completed the initial scope review and automation benchmarking, we can consolidate the findings and review the proposed approach internally.</a:t>
            </a:r>
          </a:p>
          <a:p>
            <a:r>
              <a:rPr lang="en-GB" dirty="0"/>
              <a:t>Following that, we can take it through with Field Lane, Simon and Trevor to agree the overall testing approach, outstanding dependencies and effort required.</a:t>
            </a:r>
          </a:p>
          <a:p>
            <a:r>
              <a:rPr lang="en-GB"/>
              <a:t>Please add anything I may have missed or any other dependencies we should consider.</a:t>
            </a:r>
          </a:p>
        </p:txBody>
      </p:sp>
    </p:spTree>
    <p:extLst>
      <p:ext uri="{BB962C8B-B14F-4D97-AF65-F5344CB8AC3E}">
        <p14:creationId xmlns:p14="http://schemas.microsoft.com/office/powerpoint/2010/main" val="4476834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733</TotalTime>
  <Words>561</Words>
  <Application>Microsoft Macintosh PowerPoint</Application>
  <PresentationFormat>Widescreen</PresentationFormat>
  <Paragraphs>24</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Microsoft Office User</cp:lastModifiedBy>
  <cp:revision>2</cp:revision>
  <dcterms:created xsi:type="dcterms:W3CDTF">2026-10-08T23:31:44Z</dcterms:created>
  <dcterms:modified xsi:type="dcterms:W3CDTF">2026-10-09T11:44:49Z</dcterms:modified>
</cp:coreProperties>
</file>