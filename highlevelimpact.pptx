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70"/>
  </p:normalViewPr>
  <p:slideViewPr>
    <p:cSldViewPr snapToGrid="0" snapToObjects="1">
      <p:cViewPr varScale="1">
        <p:scale>
          <a:sx n="110" d="100"/>
          <a:sy n="110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B0C0-9D8F-6A43-9A23-3D9AEC37D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1C39D-6AC1-4245-9E37-322E936AE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E10BD-43A0-9047-B0A0-DB11D034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AEDC4-C82E-734C-8F33-635F83DB93DF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AA35D-6756-E043-933E-6D4269EA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FE08B-4248-F843-9360-2653A9CD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53E5-CECA-E545-A366-61ABCCCDB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5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C67EF-F0AB-C44A-BDEE-20C31791B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AACE5-E614-D04D-B372-EE1CA5A5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FEAB6-5EA3-484A-A07F-B25B7FB4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AEDC4-C82E-734C-8F33-635F83DB93DF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F17F2-2E4E-5B42-B76C-7E691E6B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CAF88-68D2-0148-A679-4E4F1E04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53E5-CECA-E545-A366-61ABCCCDB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0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9C7F-7756-2D47-952B-2D573BB55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CE35E-8519-4744-A1B2-0CBF6E98D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4C80D-A85C-FE49-A1B7-803FF94EC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AEDC4-C82E-734C-8F33-635F83DB93DF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D6237-37F7-2C44-8C19-1FE98ADE7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C5A83-5231-C442-B3DC-F5C60EC3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53E5-CECA-E545-A366-61ABCCCDB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06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F7D7-8C62-3E48-A198-1237C372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24B05-271B-4A4E-AF62-EAA3A7529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06400-FC16-5A46-AA4E-1A3917101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97FB0-71F7-EC44-AB98-FCAD99A8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AEDC4-C82E-734C-8F33-635F83DB93DF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B7437-F4C5-594E-A7A7-D7576DEB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B3A2A-4627-2946-A294-AF2922E0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53E5-CECA-E545-A366-61ABCCCDB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19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3C3D-AEC3-4248-A954-CA1B76E65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E963C-8445-9547-B0D9-2ACAB7ECB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2A358-A7D7-BD4F-AB3E-675051DAC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B94C3-E91E-CE4E-AB19-829A72EBE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4C911-C809-084E-8949-B35E65C16F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936516-DEA2-2343-BA77-5976288A5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AEDC4-C82E-734C-8F33-635F83DB93DF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CD252C-BF55-694C-A505-F9662DF49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12BDDA-734C-B24E-A4D9-BCFEB5B4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53E5-CECA-E545-A366-61ABCCCDB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17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7F42-EF6F-C645-B7FB-E82034A8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C0A83-E572-AB4C-A6E5-B7DD4DC13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AEDC4-C82E-734C-8F33-635F83DB93DF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D5D2D-ECDC-5840-B995-754E29FE9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9D793-3FD3-5640-92C2-422C6B9BB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53E5-CECA-E545-A366-61ABCCCDB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19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D02DC-FE24-EB47-B399-C419CDE4C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AEDC4-C82E-734C-8F33-635F83DB93DF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F90AD-AB3C-5D42-B637-2659CC63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44CA7-90B9-6941-92B0-F26E73F8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53E5-CECA-E545-A366-61ABCCCDB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62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867B-4145-A646-81D2-9593E76BB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EBBCE-EE8C-6D47-AE94-D4C651525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D54C7-CBBD-A14E-AE02-E9153F0CD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96C6E-BF0D-754A-9E43-B77F079CB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AEDC4-C82E-734C-8F33-635F83DB93DF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5598D-5CDA-AC46-84F0-32497635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3CAA2-E6FF-174B-BE5A-B88D5251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53E5-CECA-E545-A366-61ABCCCDB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19D8-278C-9248-8765-2B9EECE2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7B86A8-7B80-5E4C-8BE8-7451BADDC4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B5591-9DA1-F44F-ABBF-5F2266A00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4B4E9-11CB-6843-8A0D-E4B7F3A59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AEDC4-C82E-734C-8F33-635F83DB93DF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9082-C080-A440-9AD0-FC1200835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8BF83-D928-2D4D-B105-D3CAE7013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53E5-CECA-E545-A366-61ABCCCDB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8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ED5C-938D-DE48-AAC5-0A915542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D9F7D5-51FB-C845-AD6C-D26FD2759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FE884-A618-A94E-B69B-51FFF30B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AEDC4-C82E-734C-8F33-635F83DB93DF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948C4-06B8-DD4C-B11B-5E153B80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649A0-13A0-E44D-A67D-5531EC14A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53E5-CECA-E545-A366-61ABCCCDB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3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2FC8B0-223C-E548-8682-B30579E202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408C2-5786-494C-8A4E-F44CEC640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41EB8-55A3-CE44-8B1F-50BDB55F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AEDC4-C82E-734C-8F33-635F83DB93DF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B761-812A-464D-A285-FD7BF5FB3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A99E9-BDEC-8A4F-8E2D-B4B33A32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53E5-CECA-E545-A366-61ABCCCDB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2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90CD9-BE5D-D94C-9850-6909BEE46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4E3E1-CF14-E142-A3DD-7DF44B794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B895E-0079-C147-A375-F1527E6A0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AEDC4-C82E-734C-8F33-635F83DB93DF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62D2D-A850-BB4E-B6D7-2795E6637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C1E0E-0774-8847-94F5-583F82BCE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B53E5-CECA-E545-A366-61ABCCCDB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1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2B8BF7-1B50-4043-8391-D515F4DC1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02575"/>
              </p:ext>
            </p:extLst>
          </p:nvPr>
        </p:nvGraphicFramePr>
        <p:xfrm>
          <a:off x="879676" y="983848"/>
          <a:ext cx="9664860" cy="4812916"/>
        </p:xfrm>
        <a:graphic>
          <a:graphicData uri="http://schemas.openxmlformats.org/drawingml/2006/table">
            <a:tbl>
              <a:tblPr/>
              <a:tblGrid>
                <a:gridCol w="1610810">
                  <a:extLst>
                    <a:ext uri="{9D8B030D-6E8A-4147-A177-3AD203B41FA5}">
                      <a16:colId xmlns:a16="http://schemas.microsoft.com/office/drawing/2014/main" val="1414789742"/>
                    </a:ext>
                  </a:extLst>
                </a:gridCol>
                <a:gridCol w="1610810">
                  <a:extLst>
                    <a:ext uri="{9D8B030D-6E8A-4147-A177-3AD203B41FA5}">
                      <a16:colId xmlns:a16="http://schemas.microsoft.com/office/drawing/2014/main" val="1462201133"/>
                    </a:ext>
                  </a:extLst>
                </a:gridCol>
                <a:gridCol w="1610810">
                  <a:extLst>
                    <a:ext uri="{9D8B030D-6E8A-4147-A177-3AD203B41FA5}">
                      <a16:colId xmlns:a16="http://schemas.microsoft.com/office/drawing/2014/main" val="2773119606"/>
                    </a:ext>
                  </a:extLst>
                </a:gridCol>
                <a:gridCol w="1610810">
                  <a:extLst>
                    <a:ext uri="{9D8B030D-6E8A-4147-A177-3AD203B41FA5}">
                      <a16:colId xmlns:a16="http://schemas.microsoft.com/office/drawing/2014/main" val="2899914499"/>
                    </a:ext>
                  </a:extLst>
                </a:gridCol>
                <a:gridCol w="1610810">
                  <a:extLst>
                    <a:ext uri="{9D8B030D-6E8A-4147-A177-3AD203B41FA5}">
                      <a16:colId xmlns:a16="http://schemas.microsoft.com/office/drawing/2014/main" val="1774803873"/>
                    </a:ext>
                  </a:extLst>
                </a:gridCol>
                <a:gridCol w="1610810">
                  <a:extLst>
                    <a:ext uri="{9D8B030D-6E8A-4147-A177-3AD203B41FA5}">
                      <a16:colId xmlns:a16="http://schemas.microsoft.com/office/drawing/2014/main" val="2288586999"/>
                    </a:ext>
                  </a:extLst>
                </a:gridCol>
              </a:tblGrid>
              <a:tr h="145846">
                <a:tc>
                  <a:txBody>
                    <a:bodyPr/>
                    <a:lstStyle/>
                    <a:p>
                      <a:r>
                        <a:rPr lang="en-GB" sz="400"/>
                        <a:t>#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Duplicate scenario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High-level behaviour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Why it happens / classification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Current BICoE handling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Main impact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9602175"/>
                  </a:ext>
                </a:extLst>
              </a:tr>
              <a:tr h="770900">
                <a:tc>
                  <a:txBody>
                    <a:bodyPr/>
                    <a:lstStyle/>
                    <a:p>
                      <a:r>
                        <a:rPr lang="en-GB" sz="400" b="1"/>
                        <a:t>1</a:t>
                      </a:r>
                      <a:endParaRPr lang="en-GB" sz="400"/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 b="1"/>
                        <a:t>Same-day replay duplicate</a:t>
                      </a:r>
                      <a:endParaRPr lang="en-GB" sz="400"/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The same logical MQS message is received multiple times on the same day. Each physical copy normally has a slightly different enqueuedTime / processing timestamp.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Upstream retry/replay behaviour.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 b="1"/>
                        <a:t>Handled by the current ingestion deduplication.</a:t>
                      </a:r>
                      <a:r>
                        <a:rPr lang="en-GB" sz="400"/>
                        <a:t> Only one logical record is expected to progress beyond ingestion.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Multiple copies may be visible in Event Hub/EFST, but </a:t>
                      </a:r>
                      <a:r>
                        <a:rPr lang="en-GB" sz="400" b="1"/>
                        <a:t>no expected duplicate impact in DLT, Silverish, Silver, Pricing ART, Gold or DVLA</a:t>
                      </a:r>
                      <a:r>
                        <a:rPr lang="en-GB" sz="400"/>
                        <a:t> if deduplication works as designed.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991434"/>
                  </a:ext>
                </a:extLst>
              </a:tr>
              <a:tr h="1083427">
                <a:tc>
                  <a:txBody>
                    <a:bodyPr/>
                    <a:lstStyle/>
                    <a:p>
                      <a:r>
                        <a:rPr lang="en-GB" sz="400" b="1"/>
                        <a:t>2</a:t>
                      </a:r>
                      <a:endParaRPr lang="en-GB" sz="400"/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 b="1"/>
                        <a:t>Cross-day replay duplicate</a:t>
                      </a:r>
                      <a:endParaRPr lang="en-GB" sz="400"/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The original message is received on Day 1 and the same logical message is replayed on Day 2 or later with a new Event Hub </a:t>
                      </a:r>
                      <a:r>
                        <a:rPr lang="en-GB" sz="400" dirty="0" err="1"/>
                        <a:t>enqueuedTime</a:t>
                      </a:r>
                      <a:r>
                        <a:rPr lang="en-GB" sz="400" dirty="0"/>
                        <a:t>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Delayed replay, potentially associated with timeout/Blob recovery behaviour.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 b="1"/>
                        <a:t>Escapes the current ingestion deduplication</a:t>
                      </a:r>
                      <a:r>
                        <a:rPr lang="en-GB" sz="400"/>
                        <a:t> because the replay arrives outside the effective short deduplication/watermark window.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Duplicate records can progress into </a:t>
                      </a:r>
                      <a:r>
                        <a:rPr lang="en-GB" sz="400" b="1"/>
                        <a:t>DLT/Silverish, Silver and downstream consumers</a:t>
                      </a:r>
                      <a:r>
                        <a:rPr lang="en-GB" sz="400"/>
                        <a:t>. Pricing ART can see duplicates through DLT-based views. At least one production sample has also shown propagation into Gold.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9123805"/>
                  </a:ext>
                </a:extLst>
              </a:tr>
              <a:tr h="1145933">
                <a:tc>
                  <a:txBody>
                    <a:bodyPr/>
                    <a:lstStyle/>
                    <a:p>
                      <a:r>
                        <a:rPr lang="en-GB" sz="400" b="1"/>
                        <a:t>3</a:t>
                      </a:r>
                      <a:endParaRPr lang="en-GB" sz="400"/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 b="1"/>
                        <a:t>Same Quote + Message Type with different quoteStep</a:t>
                      </a:r>
                      <a:endParaRPr lang="en-GB" sz="400"/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The same MQSQuoteId + messageType is received more than once, but the records contain different quoteStep values.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Considered a </a:t>
                      </a:r>
                      <a:r>
                        <a:rPr lang="en-GB" sz="400" b="1"/>
                        <a:t>source-data/source-processing defect</a:t>
                      </a:r>
                      <a:r>
                        <a:rPr lang="en-GB" sz="400"/>
                        <a:t>, rather than a straightforward duplicate. This pattern had previously been treated as fixed but was observed again in Production between approximately 8–30 September.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 b="1"/>
                        <a:t>Not removed by generic ingestion deduplication</a:t>
                      </a:r>
                      <a:r>
                        <a:rPr lang="en-GB" sz="400"/>
                        <a:t>, because the records are technically different.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Multiple variants can progress into </a:t>
                      </a:r>
                      <a:r>
                        <a:rPr lang="en-GB" sz="400" b="1"/>
                        <a:t>DLT/Silverish/Silver</a:t>
                      </a:r>
                      <a:r>
                        <a:rPr lang="en-GB" sz="400"/>
                        <a:t> and become visible in </a:t>
                      </a:r>
                      <a:r>
                        <a:rPr lang="en-GB" sz="400" b="1"/>
                        <a:t>Pricing ART views</a:t>
                      </a:r>
                      <a:r>
                        <a:rPr lang="en-GB" sz="400"/>
                        <a:t>. Source needs to define which business event/quoteStep is valid before BICoE can safely apply additional filtering.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321941"/>
                  </a:ext>
                </a:extLst>
              </a:tr>
              <a:tr h="895910">
                <a:tc>
                  <a:txBody>
                    <a:bodyPr/>
                    <a:lstStyle/>
                    <a:p>
                      <a:r>
                        <a:rPr lang="en-GB" sz="400" b="1"/>
                        <a:t>4</a:t>
                      </a:r>
                      <a:endParaRPr lang="en-GB" sz="400"/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 b="1"/>
                        <a:t>Historical data-load / backfill duplicate</a:t>
                      </a:r>
                      <a:endParaRPr lang="en-GB" sz="400"/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During the 30 July header-issue recovery, historical data retained in the temporary landing path was processed more than once before the revised deduplication control was fully applied.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 b="1"/>
                        <a:t>One-off BICoE recovery/data-load issue</a:t>
                      </a:r>
                      <a:r>
                        <a:rPr lang="en-GB" sz="400"/>
                        <a:t>, associated with the header incident and temporary-data reprocessing. It is different from normal live replay.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 b="1"/>
                        <a:t>Not captured by the normal ingestion deduplication path</a:t>
                      </a:r>
                      <a:r>
                        <a:rPr lang="en-GB" sz="400"/>
                        <a:t> because the duplicate was introduced through the exceptional historical reload/reprocessing activity.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Historical duplicates progressed into </a:t>
                      </a:r>
                      <a:r>
                        <a:rPr lang="en-GB" sz="400" b="1"/>
                        <a:t>Bronze DLT, Silverish/Silver and enrichment data</a:t>
                      </a:r>
                      <a:r>
                        <a:rPr lang="en-GB" sz="400"/>
                        <a:t>. They can also cause </a:t>
                      </a:r>
                      <a:r>
                        <a:rPr lang="en-GB" sz="400" b="1"/>
                        <a:t>DVLA retention MERGE conflicts and pipeline failure</a:t>
                      </a:r>
                      <a:r>
                        <a:rPr lang="en-GB" sz="400"/>
                        <a:t>. Requires finite one-off cleanup.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227563"/>
                  </a:ext>
                </a:extLst>
              </a:tr>
              <a:tr h="770900">
                <a:tc>
                  <a:txBody>
                    <a:bodyPr/>
                    <a:lstStyle/>
                    <a:p>
                      <a:r>
                        <a:rPr lang="en-GB" sz="400" b="1"/>
                        <a:t>5</a:t>
                      </a:r>
                      <a:endParaRPr lang="en-GB" sz="400"/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 b="1"/>
                        <a:t>Exact duplicate replay</a:t>
                      </a:r>
                      <a:endParaRPr lang="en-GB" sz="400"/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Two physically identical copies of the same message arrive, including the same business data and matching enqueue-related timestamps.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/>
                        <a:t>Exact upstream duplicate/replay behaviour.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 b="1"/>
                        <a:t>Handled by the current normal ingestion deduplication.</a:t>
                      </a:r>
                      <a:endParaRPr lang="en-GB" sz="400"/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400" dirty="0"/>
                        <a:t>Duplicate may exist in Event Hub/EFST, but </a:t>
                      </a:r>
                      <a:r>
                        <a:rPr lang="en-GB" sz="400" b="1" dirty="0"/>
                        <a:t>no expected downstream duplicate impact</a:t>
                      </a:r>
                      <a:r>
                        <a:rPr lang="en-GB" sz="400" dirty="0"/>
                        <a:t> if ingestion deduplication continues to contain the pattern.</a:t>
                      </a:r>
                    </a:p>
                  </a:txBody>
                  <a:tcPr marL="18837" marR="18837" marT="9418" marB="9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061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683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Macintosh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2026-10-08T23:31:44Z</dcterms:created>
  <dcterms:modified xsi:type="dcterms:W3CDTF">2026-10-08T23:32:30Z</dcterms:modified>
</cp:coreProperties>
</file>